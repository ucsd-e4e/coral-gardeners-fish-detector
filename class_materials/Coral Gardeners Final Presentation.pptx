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Teko SemiBold"/>
      <p:regular r:id="rId19"/>
      <p:bold r:id="rId20"/>
    </p:embeddedFont>
    <p:embeddedFont>
      <p:font typeface="Teko"/>
      <p:bold r:id="rId21"/>
    </p:embeddedFont>
    <p:embeddedFont>
      <p:font typeface="Source Sans 3 SemiBold"/>
      <p:regular r:id="rId22"/>
      <p:bold r:id="rId23"/>
      <p:italic r:id="rId24"/>
      <p:boldItalic r:id="rId25"/>
    </p:embeddedFont>
    <p:embeddedFont>
      <p:font typeface="Source Sans 3 Medium"/>
      <p:regular r:id="rId26"/>
      <p:bold r:id="rId27"/>
      <p:italic r:id="rId28"/>
      <p:boldItalic r:id="rId29"/>
    </p:embeddedFont>
    <p:embeddedFont>
      <p:font typeface="Source Sans 3"/>
      <p:regular r:id="rId30"/>
      <p:bold r:id="rId31"/>
      <p:italic r:id="rId32"/>
      <p:boldItalic r:id="rId33"/>
    </p:embeddedFont>
    <p:embeddedFont>
      <p:font typeface="Teko Medium"/>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TekoSemiBold-bold.fntdata"/><Relationship Id="rId22" Type="http://schemas.openxmlformats.org/officeDocument/2006/relationships/font" Target="fonts/SourceSans3SemiBold-regular.fntdata"/><Relationship Id="rId21" Type="http://schemas.openxmlformats.org/officeDocument/2006/relationships/font" Target="fonts/Teko-bold.fntdata"/><Relationship Id="rId24" Type="http://schemas.openxmlformats.org/officeDocument/2006/relationships/font" Target="fonts/SourceSans3SemiBold-italic.fntdata"/><Relationship Id="rId23" Type="http://schemas.openxmlformats.org/officeDocument/2006/relationships/font" Target="fonts/SourceSans3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ans3Medium-regular.fntdata"/><Relationship Id="rId25" Type="http://schemas.openxmlformats.org/officeDocument/2006/relationships/font" Target="fonts/SourceSans3SemiBold-boldItalic.fntdata"/><Relationship Id="rId28" Type="http://schemas.openxmlformats.org/officeDocument/2006/relationships/font" Target="fonts/SourceSans3Medium-italic.fntdata"/><Relationship Id="rId27" Type="http://schemas.openxmlformats.org/officeDocument/2006/relationships/font" Target="fonts/SourceSans3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Sans3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urceSans3-bold.fntdata"/><Relationship Id="rId30" Type="http://schemas.openxmlformats.org/officeDocument/2006/relationships/font" Target="fonts/SourceSans3-regular.fntdata"/><Relationship Id="rId11" Type="http://schemas.openxmlformats.org/officeDocument/2006/relationships/slide" Target="slides/slide6.xml"/><Relationship Id="rId33" Type="http://schemas.openxmlformats.org/officeDocument/2006/relationships/font" Target="fonts/SourceSans3-boldItalic.fntdata"/><Relationship Id="rId10" Type="http://schemas.openxmlformats.org/officeDocument/2006/relationships/slide" Target="slides/slide5.xml"/><Relationship Id="rId32" Type="http://schemas.openxmlformats.org/officeDocument/2006/relationships/font" Target="fonts/SourceSans3-italic.fntdata"/><Relationship Id="rId13" Type="http://schemas.openxmlformats.org/officeDocument/2006/relationships/slide" Target="slides/slide8.xml"/><Relationship Id="rId35" Type="http://schemas.openxmlformats.org/officeDocument/2006/relationships/font" Target="fonts/TekoMedium-bold.fntdata"/><Relationship Id="rId12" Type="http://schemas.openxmlformats.org/officeDocument/2006/relationships/slide" Target="slides/slide7.xml"/><Relationship Id="rId34" Type="http://schemas.openxmlformats.org/officeDocument/2006/relationships/font" Target="fonts/TekoMedium-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TekoSemiBol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1pPr>
            <a:lvl2pPr indent="-228600" lvl="1" marL="9144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2pPr>
            <a:lvl3pPr indent="-228600" lvl="2" marL="13716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3pPr>
            <a:lvl4pPr indent="-228600" lvl="3" marL="18288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4pPr>
            <a:lvl5pPr indent="-228600" lvl="4" marL="22860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5pPr>
            <a:lvl6pPr indent="-228600" lvl="5" marL="27432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6pPr>
            <a:lvl7pPr indent="-228600" lvl="6" marL="32004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7pPr>
            <a:lvl8pPr indent="-228600" lvl="7" marL="36576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8pPr>
            <a:lvl9pPr indent="-228600" lvl="8" marL="41148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50107b0fa7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50107b0fa7_0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50107b0fa7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50107b0fa7_0_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F1 and recall</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FOR OVERVIEW MENTION WHAT SAM3 IS AND WHAT RF_DETR IS:</a:t>
            </a:r>
            <a:br>
              <a:rPr lang="en-US" sz="2000"/>
            </a:br>
            <a:br>
              <a:rPr lang="en-US" sz="2000"/>
            </a:br>
            <a:r>
              <a:rPr lang="en-US" sz="2000"/>
              <a:t>RF_DETR - transformer-based segmentation model that does great at domain adaptation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100"/>
              <a:t>SAM3 - Metas AI foundation model </a:t>
            </a:r>
            <a:r>
              <a:rPr lang="en-US" sz="2100"/>
              <a:t>designed for detecting, segmenting, and tracking objects in images</a:t>
            </a:r>
            <a:r>
              <a:rPr lang="en-US" sz="2000"/>
              <a:t> </a:t>
            </a:r>
            <a:endParaRPr sz="2000"/>
          </a:p>
          <a:p>
            <a:pPr indent="0" lvl="0" marL="0" rtl="0" algn="l">
              <a:lnSpc>
                <a:spcPct val="115000"/>
              </a:lnSpc>
              <a:spcBef>
                <a:spcPts val="1200"/>
              </a:spcBef>
              <a:spcAft>
                <a:spcPts val="1200"/>
              </a:spcAft>
              <a:buClr>
                <a:schemeClr val="dk1"/>
              </a:buClr>
              <a:buSzPts val="1100"/>
              <a:buFont typeface="Arial"/>
              <a:buNone/>
            </a:pPr>
            <a:r>
              <a:rPr lang="en-US" sz="2000">
                <a:solidFill>
                  <a:schemeClr val="dk1"/>
                </a:solidFill>
                <a:latin typeface="Arial"/>
                <a:ea typeface="Arial"/>
                <a:cs typeface="Arial"/>
                <a:sym typeface="Arial"/>
              </a:rPr>
              <a:t>BioCLIP is a biology-focused image classification model</a:t>
            </a:r>
            <a:endParaRPr sz="20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0107b0fa7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0107b0fa7_0_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725"/>
              <a:t>post processing - sam3 added 25% buffer to the masks and created a bounding box that is then put into the bioclip as a temp image that is later deleted</a:t>
            </a:r>
            <a:endParaRPr sz="1725"/>
          </a:p>
          <a:p>
            <a:pPr indent="0" lvl="0" marL="0" rtl="0" algn="l">
              <a:spcBef>
                <a:spcPts val="0"/>
              </a:spcBef>
              <a:spcAft>
                <a:spcPts val="0"/>
              </a:spcAft>
              <a:buNone/>
            </a:pPr>
            <a:r>
              <a:t/>
            </a:r>
            <a:endParaRPr sz="1725"/>
          </a:p>
          <a:p>
            <a:pPr indent="0" lvl="0" marL="0" rtl="0" algn="l">
              <a:spcBef>
                <a:spcPts val="0"/>
              </a:spcBef>
              <a:spcAft>
                <a:spcPts val="0"/>
              </a:spcAft>
              <a:buNone/>
            </a:pPr>
            <a:r>
              <a:rPr lang="en-US" sz="1725"/>
              <a:t>OBIS data by frequency</a:t>
            </a:r>
            <a:endParaRPr sz="1725"/>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55bb44d07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55bb44d07_0_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625"/>
              <a:t>For this part of the project, we tested several approaches for fish detection and classification. We started with custom-trained YOLOv8, YOLOv11, and YOLOv12 models, but the accuracy stayed under 10% because of domain shift and limited labeled data. The models had trouble generalizing to the Coral Gardeners underwater footage.</a:t>
            </a:r>
            <a:endParaRPr sz="1625"/>
          </a:p>
          <a:p>
            <a:pPr indent="0" lvl="0" marL="0" rtl="0" algn="l">
              <a:lnSpc>
                <a:spcPct val="115000"/>
              </a:lnSpc>
              <a:spcBef>
                <a:spcPts val="1200"/>
              </a:spcBef>
              <a:spcAft>
                <a:spcPts val="0"/>
              </a:spcAft>
              <a:buNone/>
            </a:pPr>
            <a:r>
              <a:rPr lang="en-US" sz="1625"/>
              <a:t>We then tested RF-DETR, which improved to around 50% accuracy, but it still had issues with weak generalization. One major problem was that it sometimes detected buoys as fish, likely because the lighting and shape cues looked similar underwater. To address this, we started creating a negative buoy dataset.</a:t>
            </a:r>
            <a:endParaRPr sz="1625"/>
          </a:p>
          <a:p>
            <a:pPr indent="0" lvl="0" marL="0" rtl="0" algn="l">
              <a:lnSpc>
                <a:spcPct val="115000"/>
              </a:lnSpc>
              <a:spcBef>
                <a:spcPts val="1200"/>
              </a:spcBef>
              <a:spcAft>
                <a:spcPts val="0"/>
              </a:spcAft>
              <a:buNone/>
            </a:pPr>
            <a:r>
              <a:rPr lang="en-US" sz="1625"/>
              <a:t>Because of these limitations, we moved to SAM3 Native for fish localization and BioCLIP for region-aware species classification. This worked better because SAM3 located the fish, and BioCLIP matched the cropped image to region-specific species labels. With this setup, we reached about 79.8% accuracy.</a:t>
            </a:r>
            <a:endParaRPr sz="1625"/>
          </a:p>
          <a:p>
            <a:pPr indent="0" lvl="0" marL="0" rtl="0" algn="l">
              <a:lnSpc>
                <a:spcPct val="115000"/>
              </a:lnSpc>
              <a:spcBef>
                <a:spcPts val="1200"/>
              </a:spcBef>
              <a:spcAft>
                <a:spcPts val="1200"/>
              </a:spcAft>
              <a:buNone/>
            </a:pPr>
            <a:r>
              <a:t/>
            </a:r>
            <a:endParaRPr sz="1625"/>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727610510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727610510_0_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625"/>
              <a:t>For this part of the project, we tested several approaches for fish detection and segmentation. We started with custom-trained YOLOv8, YOLOv11, and YOLOv12 models, but the accuracy stayed under 10% because of domain shift and limited labeled data. The models had trouble generalizing to the Coral Gardeners underwater footage.</a:t>
            </a:r>
            <a:endParaRPr sz="1625"/>
          </a:p>
          <a:p>
            <a:pPr indent="0" lvl="0" marL="0" rtl="0" algn="l">
              <a:lnSpc>
                <a:spcPct val="115000"/>
              </a:lnSpc>
              <a:spcBef>
                <a:spcPts val="1200"/>
              </a:spcBef>
              <a:spcAft>
                <a:spcPts val="0"/>
              </a:spcAft>
              <a:buClr>
                <a:schemeClr val="dk1"/>
              </a:buClr>
              <a:buSzPts val="1100"/>
              <a:buFont typeface="Arial"/>
              <a:buNone/>
            </a:pPr>
            <a:r>
              <a:rPr lang="en-US" sz="1625"/>
              <a:t>We then tested RF-DETR, which improved to around 50% accuracy, but it still had weak generalization. One major issue was that it sometimes detected buoys as fish, likely because the lighting and shape cues looked similar underwater. To address this, we started creating a negative buoy dataset.</a:t>
            </a:r>
            <a:endParaRPr sz="1625"/>
          </a:p>
          <a:p>
            <a:pPr indent="0" lvl="0" marL="0" rtl="0" algn="l">
              <a:lnSpc>
                <a:spcPct val="115000"/>
              </a:lnSpc>
              <a:spcBef>
                <a:spcPts val="1200"/>
              </a:spcBef>
              <a:spcAft>
                <a:spcPts val="0"/>
              </a:spcAft>
              <a:buClr>
                <a:schemeClr val="dk1"/>
              </a:buClr>
              <a:buSzPts val="1100"/>
              <a:buFont typeface="Arial"/>
              <a:buNone/>
            </a:pPr>
            <a:r>
              <a:rPr lang="en-US" sz="1625"/>
              <a:t>We initially tested the Hugging Face Transformers SAM3 wrapper for easier Windows integration, but it produced weaker masks in our experiments. We then switched to the native Meta SAM3 implementation with Triton support, which gave better segmentation quality. Overall, SAM3 gave us the strongest localization results and became the segmentation model we moved forward with.</a:t>
            </a:r>
            <a:endParaRPr sz="1625"/>
          </a:p>
          <a:p>
            <a:pPr indent="0" lvl="0" marL="0" rtl="0" algn="l">
              <a:lnSpc>
                <a:spcPct val="115000"/>
              </a:lnSpc>
              <a:spcBef>
                <a:spcPts val="1200"/>
              </a:spcBef>
              <a:spcAft>
                <a:spcPts val="1200"/>
              </a:spcAft>
              <a:buNone/>
            </a:pPr>
            <a:r>
              <a:t/>
            </a:r>
            <a:endParaRPr sz="1625"/>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ca8346ff1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ca8346ff1_0_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625"/>
              <a:t>This slide shows the improvement from BioCLIP 2 to BioCLIP 2.5. BioCLIP 2 reached about 49.7% accuracy.</a:t>
            </a:r>
            <a:endParaRPr sz="1625"/>
          </a:p>
          <a:p>
            <a:pPr indent="0" lvl="0" marL="0" rtl="0" algn="l">
              <a:lnSpc>
                <a:spcPct val="115000"/>
              </a:lnSpc>
              <a:spcBef>
                <a:spcPts val="1200"/>
              </a:spcBef>
              <a:spcAft>
                <a:spcPts val="0"/>
              </a:spcAft>
              <a:buClr>
                <a:schemeClr val="dk1"/>
              </a:buClr>
              <a:buSzPts val="1100"/>
              <a:buFont typeface="Arial"/>
              <a:buNone/>
            </a:pPr>
            <a:r>
              <a:rPr lang="en-US" sz="1625"/>
              <a:t>With BioCLIP 2.5, accuracy improved to 83.3%. This improvement happened because it was trained on a bigger data set and improving the sam3 masks, while also creating a top25 species yaml so it reduced the number of species that bioclip can choose from. This is a heavier model and requires more resources, but the accuracy was significantly better.</a:t>
            </a:r>
            <a:endParaRPr sz="1625"/>
          </a:p>
          <a:p>
            <a:pPr indent="0" lvl="0" marL="0" rtl="0" algn="l">
              <a:lnSpc>
                <a:spcPct val="115000"/>
              </a:lnSpc>
              <a:spcBef>
                <a:spcPts val="1200"/>
              </a:spcBef>
              <a:spcAft>
                <a:spcPts val="0"/>
              </a:spcAft>
              <a:buClr>
                <a:schemeClr val="dk1"/>
              </a:buClr>
              <a:buSzPts val="1100"/>
              <a:buFont typeface="Arial"/>
              <a:buNone/>
            </a:pPr>
            <a:r>
              <a:rPr lang="en-US" sz="1625"/>
              <a:t>Overall, the main takeaway is that BioCLIP 2.5 performed much better once we limited the classification choices to species that are more likely to appear in each region.</a:t>
            </a:r>
            <a:endParaRPr sz="1625"/>
          </a:p>
          <a:p>
            <a:pPr indent="0" lvl="0" marL="0" rtl="0" algn="l">
              <a:lnSpc>
                <a:spcPct val="115000"/>
              </a:lnSpc>
              <a:spcBef>
                <a:spcPts val="1200"/>
              </a:spcBef>
              <a:spcAft>
                <a:spcPts val="1200"/>
              </a:spcAft>
              <a:buNone/>
            </a:pPr>
            <a:r>
              <a:t/>
            </a:r>
            <a:endParaRPr sz="1625"/>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c880f975a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c880f975a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725"/>
              <a:t>We did not build a full GUI user interface, since our main focus was improving the detection and classification pipeline accuracy and this was a stretch goal. So at the moment it is just completely done in the terminal.</a:t>
            </a:r>
            <a:endParaRPr sz="1725"/>
          </a:p>
          <a:p>
            <a:pPr indent="0" lvl="0" marL="0" rtl="0" algn="l">
              <a:lnSpc>
                <a:spcPct val="115000"/>
              </a:lnSpc>
              <a:spcBef>
                <a:spcPts val="1200"/>
              </a:spcBef>
              <a:spcAft>
                <a:spcPts val="0"/>
              </a:spcAft>
              <a:buClr>
                <a:schemeClr val="dk1"/>
              </a:buClr>
              <a:buSzPts val="1100"/>
              <a:buFont typeface="Arial"/>
              <a:buNone/>
            </a:pPr>
            <a:r>
              <a:rPr lang="en-US" sz="1725"/>
              <a:t>We also did not fully complete detection of non-native or invasive species. Our project is completely based on native species from the regions.</a:t>
            </a:r>
            <a:endParaRPr sz="1725"/>
          </a:p>
          <a:p>
            <a:pPr indent="0" lvl="0" marL="0" rtl="0" algn="l">
              <a:lnSpc>
                <a:spcPct val="115000"/>
              </a:lnSpc>
              <a:spcBef>
                <a:spcPts val="1200"/>
              </a:spcBef>
              <a:spcAft>
                <a:spcPts val="0"/>
              </a:spcAft>
              <a:buClr>
                <a:schemeClr val="dk1"/>
              </a:buClr>
              <a:buSzPts val="1100"/>
              <a:buFont typeface="Arial"/>
              <a:buNone/>
            </a:pPr>
            <a:r>
              <a:rPr lang="en-US" sz="1725"/>
              <a:t>With these two, we did not get to it as Mr.Williams suggested that it should not have been our main focus.</a:t>
            </a:r>
            <a:endParaRPr sz="1725"/>
          </a:p>
          <a:p>
            <a:pPr indent="0" lvl="0" marL="0" rtl="0" algn="l">
              <a:lnSpc>
                <a:spcPct val="115000"/>
              </a:lnSpc>
              <a:spcBef>
                <a:spcPts val="1200"/>
              </a:spcBef>
              <a:spcAft>
                <a:spcPts val="0"/>
              </a:spcAft>
              <a:buClr>
                <a:schemeClr val="dk1"/>
              </a:buClr>
              <a:buSzPts val="1100"/>
              <a:buFont typeface="Arial"/>
              <a:buNone/>
            </a:pPr>
            <a:r>
              <a:rPr lang="en-US" sz="1725"/>
              <a:t>Another challenge we did not completely solve was the domain gap between public datasets and real reef images. Public datasets are usually cleaner, while the Coral Gardeners footage has blur, lighting changes, camouflage, and lower image quality.</a:t>
            </a:r>
            <a:endParaRPr sz="1725"/>
          </a:p>
          <a:p>
            <a:pPr indent="0" lvl="0" marL="0" rtl="0" algn="l">
              <a:lnSpc>
                <a:spcPct val="115000"/>
              </a:lnSpc>
              <a:spcBef>
                <a:spcPts val="1200"/>
              </a:spcBef>
              <a:spcAft>
                <a:spcPts val="0"/>
              </a:spcAft>
              <a:buClr>
                <a:schemeClr val="dk1"/>
              </a:buClr>
              <a:buSzPts val="1100"/>
              <a:buFont typeface="Arial"/>
              <a:buNone/>
            </a:pPr>
            <a:r>
              <a:t/>
            </a:r>
            <a:endParaRPr sz="1725"/>
          </a:p>
          <a:p>
            <a:pPr indent="0" lvl="0" marL="0" rtl="0" algn="l">
              <a:lnSpc>
                <a:spcPct val="115000"/>
              </a:lnSpc>
              <a:spcBef>
                <a:spcPts val="1200"/>
              </a:spcBef>
              <a:spcAft>
                <a:spcPts val="0"/>
              </a:spcAft>
              <a:buClr>
                <a:schemeClr val="dk1"/>
              </a:buClr>
              <a:buSzPts val="1100"/>
              <a:buFont typeface="Arial"/>
              <a:buNone/>
            </a:pPr>
            <a:r>
              <a:t/>
            </a:r>
            <a:endParaRPr sz="1725"/>
          </a:p>
          <a:p>
            <a:pPr indent="0" lvl="0" marL="0" rtl="0" algn="l">
              <a:lnSpc>
                <a:spcPct val="115000"/>
              </a:lnSpc>
              <a:spcBef>
                <a:spcPts val="1200"/>
              </a:spcBef>
              <a:spcAft>
                <a:spcPts val="0"/>
              </a:spcAft>
              <a:buClr>
                <a:schemeClr val="dk1"/>
              </a:buClr>
              <a:buSzPts val="1100"/>
              <a:buFont typeface="Arial"/>
              <a:buNone/>
            </a:pPr>
            <a:r>
              <a:rPr lang="en-US" sz="1725">
                <a:solidFill>
                  <a:schemeClr val="dk1"/>
                </a:solidFill>
              </a:rPr>
              <a:t>We also did not fully complete detection of non-native or invasive species. That would require stronger species-level classification and more region-specific validation. So at the moment, our project is completely based on native species from the regions.</a:t>
            </a:r>
            <a:endParaRPr sz="1725">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725"/>
          </a:p>
          <a:p>
            <a:pPr indent="0" lvl="0" marL="0" rtl="0" algn="l">
              <a:lnSpc>
                <a:spcPct val="115000"/>
              </a:lnSpc>
              <a:spcBef>
                <a:spcPts val="1200"/>
              </a:spcBef>
              <a:spcAft>
                <a:spcPts val="0"/>
              </a:spcAft>
              <a:buClr>
                <a:schemeClr val="dk1"/>
              </a:buClr>
              <a:buSzPts val="1100"/>
              <a:buFont typeface="Arial"/>
              <a:buNone/>
            </a:pPr>
            <a:r>
              <a:t/>
            </a:r>
            <a:endParaRPr sz="1725"/>
          </a:p>
          <a:p>
            <a:pPr indent="0" lvl="0" marL="0" rtl="0" algn="l">
              <a:spcBef>
                <a:spcPts val="1200"/>
              </a:spcBef>
              <a:spcAft>
                <a:spcPts val="0"/>
              </a:spcAft>
              <a:buNone/>
            </a:pPr>
            <a:r>
              <a:t/>
            </a:r>
            <a:endParaRPr sz="1725"/>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55bb44d0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55bb44d07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825"/>
              <a:t>One issue was losing access to GPU resources, which slowed down training and testing. Another major challenge was the quality of the reef imagery. Many images were low-resolution, blurry, or had fish partially blocked by coral or water movement. As you can see in the image, it is very blurry and far away, but we are still able to detect and have a good accuracy.</a:t>
            </a:r>
            <a:endParaRPr sz="1825"/>
          </a:p>
          <a:p>
            <a:pPr indent="0" lvl="0" marL="0" rtl="0" algn="l">
              <a:spcBef>
                <a:spcPts val="1200"/>
              </a:spcBef>
              <a:spcAft>
                <a:spcPts val="0"/>
              </a:spcAft>
              <a:buNone/>
            </a:pPr>
            <a:r>
              <a:t/>
            </a:r>
            <a:endParaRPr sz="1825"/>
          </a:p>
          <a:p>
            <a:pPr indent="0" lvl="0" marL="0" rtl="0" algn="l">
              <a:lnSpc>
                <a:spcPct val="115000"/>
              </a:lnSpc>
              <a:spcBef>
                <a:spcPts val="1200"/>
              </a:spcBef>
              <a:spcAft>
                <a:spcPts val="0"/>
              </a:spcAft>
              <a:buNone/>
            </a:pPr>
            <a:r>
              <a:rPr lang="en-US" sz="1825">
                <a:solidFill>
                  <a:schemeClr val="dk1"/>
                </a:solidFill>
              </a:rPr>
              <a:t>The example on the right shows how difficult detection can be in this environment. Green boxes are matched predictions, orange boxes are missed ground truth, and red boxes are false positives. This shows that the model can detect some fish correctly, but it can also miss fish or mistake background objects for fish.</a:t>
            </a:r>
            <a:endParaRPr sz="1825">
              <a:solidFill>
                <a:schemeClr val="dk1"/>
              </a:solidFill>
            </a:endParaRPr>
          </a:p>
          <a:p>
            <a:pPr indent="0" lvl="0" marL="0" rtl="0" algn="l">
              <a:lnSpc>
                <a:spcPct val="115000"/>
              </a:lnSpc>
              <a:spcBef>
                <a:spcPts val="1200"/>
              </a:spcBef>
              <a:spcAft>
                <a:spcPts val="0"/>
              </a:spcAft>
              <a:buNone/>
            </a:pPr>
            <a:r>
              <a:rPr lang="en-US" sz="1825">
                <a:solidFill>
                  <a:schemeClr val="dk1"/>
                </a:solidFill>
              </a:rPr>
              <a:t>Overall, the biggest challenge was the domain shift between cleaner public datasets and real underwater reef footage. The reef images are much harder because of lighting, camouflage, blur, and inconsistent labels.</a:t>
            </a:r>
            <a:endParaRPr sz="1825">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825">
              <a:solidFill>
                <a:schemeClr val="dk1"/>
              </a:solidFill>
            </a:endParaRPr>
          </a:p>
          <a:p>
            <a:pPr indent="0" lvl="0" marL="0" rtl="0" algn="l">
              <a:spcBef>
                <a:spcPts val="1200"/>
              </a:spcBef>
              <a:spcAft>
                <a:spcPts val="0"/>
              </a:spcAft>
              <a:buNone/>
            </a:pPr>
            <a:r>
              <a:t/>
            </a:r>
            <a:endParaRPr sz="1825"/>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b7df52c77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b7df52c77_0_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c880f975a_1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c880f975a_1_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55bb44d07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e55bb44d07_0_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e55bb44d07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e55bb44d07_0_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c2c8bdcb9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c2c8bdcb9_0_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25"/>
              <a:t>reducing domain-shift problems so the package works reliably on real Coral Gardeners imagery. </a:t>
            </a:r>
            <a:endParaRPr sz="2425"/>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itle">
  <p:cSld name="TITLE">
    <p:bg>
      <p:bgPr>
        <a:solidFill>
          <a:schemeClr val="dk1"/>
        </a:solidFill>
      </p:bgPr>
    </p:bg>
    <p:spTree>
      <p:nvGrpSpPr>
        <p:cNvPr id="11" name="Shape 11"/>
        <p:cNvGrpSpPr/>
        <p:nvPr/>
      </p:nvGrpSpPr>
      <p:grpSpPr>
        <a:xfrm>
          <a:off x="0" y="0"/>
          <a:ext cx="0" cy="0"/>
          <a:chOff x="0" y="0"/>
          <a:chExt cx="0" cy="0"/>
        </a:xfrm>
      </p:grpSpPr>
      <p:pic>
        <p:nvPicPr>
          <p:cNvPr id="12" name="Google Shape;12;p2"/>
          <p:cNvPicPr preferRelativeResize="0"/>
          <p:nvPr/>
        </p:nvPicPr>
        <p:blipFill>
          <a:blip r:embed="rId2">
            <a:alphaModFix/>
          </a:blip>
          <a:stretch>
            <a:fillRect/>
          </a:stretch>
        </p:blipFill>
        <p:spPr>
          <a:xfrm>
            <a:off x="0" y="0"/>
            <a:ext cx="9144000" cy="5120640"/>
          </a:xfrm>
          <a:prstGeom prst="rect">
            <a:avLst/>
          </a:prstGeom>
          <a:noFill/>
          <a:ln>
            <a:noFill/>
          </a:ln>
        </p:spPr>
      </p:pic>
      <p:sp>
        <p:nvSpPr>
          <p:cNvPr id="13" name="Google Shape;13;p2"/>
          <p:cNvSpPr/>
          <p:nvPr>
            <p:ph idx="2" type="pic"/>
          </p:nvPr>
        </p:nvSpPr>
        <p:spPr>
          <a:xfrm>
            <a:off x="6819843" y="286172"/>
            <a:ext cx="2009775" cy="382258"/>
          </a:xfrm>
          <a:prstGeom prst="rect">
            <a:avLst/>
          </a:prstGeom>
          <a:noFill/>
          <a:ln>
            <a:noFill/>
          </a:ln>
        </p:spPr>
      </p:sp>
      <p:sp>
        <p:nvSpPr>
          <p:cNvPr id="14" name="Google Shape;14;p2"/>
          <p:cNvSpPr txBox="1"/>
          <p:nvPr>
            <p:ph type="title"/>
          </p:nvPr>
        </p:nvSpPr>
        <p:spPr>
          <a:xfrm>
            <a:off x="457200" y="1057275"/>
            <a:ext cx="8229599" cy="1711938"/>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rgbClr val="FFFFFF"/>
              </a:buClr>
              <a:buSzPts val="5200"/>
              <a:buFont typeface="Teko SemiBold"/>
              <a:buNone/>
              <a:defRPr sz="5200">
                <a:solidFill>
                  <a:srgbClr val="FFFFFF"/>
                </a:solidFill>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15" name="Google Shape;15;p2"/>
          <p:cNvSpPr txBox="1"/>
          <p:nvPr>
            <p:ph idx="1" type="subTitle"/>
          </p:nvPr>
        </p:nvSpPr>
        <p:spPr>
          <a:xfrm>
            <a:off x="457200" y="2782650"/>
            <a:ext cx="8229600" cy="714300"/>
          </a:xfrm>
          <a:prstGeom prst="rect">
            <a:avLst/>
          </a:prstGeom>
        </p:spPr>
        <p:txBody>
          <a:bodyPr anchorCtr="0" anchor="t" bIns="0" lIns="18275" spcFirstLastPara="1" rIns="0" wrap="square" tIns="0">
            <a:normAutofit/>
          </a:bodyPr>
          <a:lstStyle>
            <a:lvl1pPr lvl="0">
              <a:spcBef>
                <a:spcPts val="1200"/>
              </a:spcBef>
              <a:spcAft>
                <a:spcPts val="0"/>
              </a:spcAft>
              <a:buClr>
                <a:schemeClr val="lt1"/>
              </a:buClr>
              <a:buSzPts val="1800"/>
              <a:buFont typeface="Source Sans 3 SemiBold"/>
              <a:buNone/>
              <a:defRPr sz="1800">
                <a:solidFill>
                  <a:schemeClr val="lt1"/>
                </a:solidFill>
                <a:latin typeface="Source Sans 3 SemiBold"/>
                <a:ea typeface="Source Sans 3 SemiBold"/>
                <a:cs typeface="Source Sans 3 SemiBold"/>
                <a:sym typeface="Source Sans 3 SemiBold"/>
              </a:defRPr>
            </a:lvl1pPr>
            <a:lvl2pPr lvl="1">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2pPr>
            <a:lvl3pPr lvl="2">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3pPr>
            <a:lvl4pPr lvl="3">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4pPr>
            <a:lvl5pPr lvl="4">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5pPr>
            <a:lvl6pPr lvl="5">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6pPr>
            <a:lvl7pPr lvl="6">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7pPr>
            <a:lvl8pPr lvl="7">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8pPr>
            <a:lvl9pPr lvl="8">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9pPr>
          </a:lstStyle>
          <a:p/>
        </p:txBody>
      </p:sp>
      <p:sp>
        <p:nvSpPr>
          <p:cNvPr id="16" name="Google Shape;16;p2"/>
          <p:cNvSpPr txBox="1"/>
          <p:nvPr>
            <p:ph idx="3" type="subTitle"/>
          </p:nvPr>
        </p:nvSpPr>
        <p:spPr>
          <a:xfrm>
            <a:off x="461400" y="4429125"/>
            <a:ext cx="8229600" cy="257100"/>
          </a:xfrm>
          <a:prstGeom prst="rect">
            <a:avLst/>
          </a:prstGeom>
        </p:spPr>
        <p:txBody>
          <a:bodyPr anchorCtr="0" anchor="t" bIns="0" lIns="18275" spcFirstLastPara="1" rIns="0" wrap="square" tIns="0">
            <a:normAutofit/>
          </a:bodyPr>
          <a:lstStyle>
            <a:lvl1pPr lvl="0">
              <a:spcBef>
                <a:spcPts val="1200"/>
              </a:spcBef>
              <a:spcAft>
                <a:spcPts val="0"/>
              </a:spcAft>
              <a:buClr>
                <a:schemeClr val="lt2"/>
              </a:buClr>
              <a:buSzPts val="1100"/>
              <a:buNone/>
              <a:defRPr sz="1100">
                <a:solidFill>
                  <a:schemeClr val="lt2"/>
                </a:solidFill>
              </a:defRPr>
            </a:lvl1pPr>
            <a:lvl2pPr lvl="1">
              <a:spcBef>
                <a:spcPts val="1200"/>
              </a:spcBef>
              <a:spcAft>
                <a:spcPts val="0"/>
              </a:spcAft>
              <a:buClr>
                <a:schemeClr val="lt2"/>
              </a:buClr>
              <a:buSzPts val="1100"/>
              <a:buNone/>
              <a:defRPr sz="1100">
                <a:solidFill>
                  <a:schemeClr val="lt2"/>
                </a:solidFill>
              </a:defRPr>
            </a:lvl2pPr>
            <a:lvl3pPr lvl="2">
              <a:spcBef>
                <a:spcPts val="1200"/>
              </a:spcBef>
              <a:spcAft>
                <a:spcPts val="0"/>
              </a:spcAft>
              <a:buClr>
                <a:schemeClr val="lt2"/>
              </a:buClr>
              <a:buSzPts val="1100"/>
              <a:buNone/>
              <a:defRPr sz="1100">
                <a:solidFill>
                  <a:schemeClr val="lt2"/>
                </a:solidFill>
              </a:defRPr>
            </a:lvl3pPr>
            <a:lvl4pPr lvl="3">
              <a:spcBef>
                <a:spcPts val="1200"/>
              </a:spcBef>
              <a:spcAft>
                <a:spcPts val="0"/>
              </a:spcAft>
              <a:buClr>
                <a:schemeClr val="lt2"/>
              </a:buClr>
              <a:buSzPts val="1100"/>
              <a:buNone/>
              <a:defRPr sz="1100">
                <a:solidFill>
                  <a:schemeClr val="lt2"/>
                </a:solidFill>
              </a:defRPr>
            </a:lvl4pPr>
            <a:lvl5pPr lvl="4">
              <a:spcBef>
                <a:spcPts val="1200"/>
              </a:spcBef>
              <a:spcAft>
                <a:spcPts val="0"/>
              </a:spcAft>
              <a:buClr>
                <a:schemeClr val="lt2"/>
              </a:buClr>
              <a:buSzPts val="1100"/>
              <a:buNone/>
              <a:defRPr sz="1100">
                <a:solidFill>
                  <a:schemeClr val="lt2"/>
                </a:solidFill>
              </a:defRPr>
            </a:lvl5pPr>
            <a:lvl6pPr lvl="5">
              <a:spcBef>
                <a:spcPts val="1200"/>
              </a:spcBef>
              <a:spcAft>
                <a:spcPts val="0"/>
              </a:spcAft>
              <a:buClr>
                <a:schemeClr val="lt2"/>
              </a:buClr>
              <a:buSzPts val="1100"/>
              <a:buNone/>
              <a:defRPr sz="1100">
                <a:solidFill>
                  <a:schemeClr val="lt2"/>
                </a:solidFill>
              </a:defRPr>
            </a:lvl6pPr>
            <a:lvl7pPr lvl="6">
              <a:spcBef>
                <a:spcPts val="1200"/>
              </a:spcBef>
              <a:spcAft>
                <a:spcPts val="0"/>
              </a:spcAft>
              <a:buClr>
                <a:schemeClr val="lt2"/>
              </a:buClr>
              <a:buSzPts val="1100"/>
              <a:buNone/>
              <a:defRPr sz="1100">
                <a:solidFill>
                  <a:schemeClr val="lt2"/>
                </a:solidFill>
              </a:defRPr>
            </a:lvl7pPr>
            <a:lvl8pPr lvl="7">
              <a:spcBef>
                <a:spcPts val="1200"/>
              </a:spcBef>
              <a:spcAft>
                <a:spcPts val="0"/>
              </a:spcAft>
              <a:buClr>
                <a:schemeClr val="lt2"/>
              </a:buClr>
              <a:buSzPts val="1100"/>
              <a:buNone/>
              <a:defRPr sz="1100">
                <a:solidFill>
                  <a:schemeClr val="lt2"/>
                </a:solidFill>
              </a:defRPr>
            </a:lvl8pPr>
            <a:lvl9pPr lvl="8">
              <a:spcBef>
                <a:spcPts val="1200"/>
              </a:spcBef>
              <a:spcAft>
                <a:spcPts val="0"/>
              </a:spcAft>
              <a:buClr>
                <a:schemeClr val="lt2"/>
              </a:buClr>
              <a:buSzPts val="1100"/>
              <a:buNone/>
              <a:defRPr sz="1100">
                <a:solidFill>
                  <a:schemeClr val="lt2"/>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1753">
          <p15:clr>
            <a:srgbClr val="E46962"/>
          </p15:clr>
        </p15:guide>
        <p15:guide id="4" orient="horz" pos="2203">
          <p15:clr>
            <a:srgbClr val="E46962"/>
          </p15:clr>
        </p15:guide>
        <p15:guide id="5" orient="horz" pos="295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Numbered">
  <p:cSld name="Agenda Numbered">
    <p:spTree>
      <p:nvGrpSpPr>
        <p:cNvPr id="17" name="Shape 17"/>
        <p:cNvGrpSpPr/>
        <p:nvPr/>
      </p:nvGrpSpPr>
      <p:grpSpPr>
        <a:xfrm>
          <a:off x="0" y="0"/>
          <a:ext cx="0" cy="0"/>
          <a:chOff x="0" y="0"/>
          <a:chExt cx="0" cy="0"/>
        </a:xfrm>
      </p:grpSpPr>
      <p:sp>
        <p:nvSpPr>
          <p:cNvPr id="18" name="Google Shape;18;p3"/>
          <p:cNvSpPr/>
          <p:nvPr>
            <p:ph idx="1" type="body"/>
          </p:nvPr>
        </p:nvSpPr>
        <p:spPr>
          <a:xfrm>
            <a:off x="452438" y="1309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19" name="Google Shape;19;p3"/>
          <p:cNvSpPr/>
          <p:nvPr>
            <p:ph idx="2" type="body"/>
          </p:nvPr>
        </p:nvSpPr>
        <p:spPr>
          <a:xfrm>
            <a:off x="452438" y="18940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0" name="Google Shape;20;p3"/>
          <p:cNvSpPr/>
          <p:nvPr>
            <p:ph idx="3" type="body"/>
          </p:nvPr>
        </p:nvSpPr>
        <p:spPr>
          <a:xfrm>
            <a:off x="452438" y="24788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1" name="Google Shape;21;p3"/>
          <p:cNvSpPr/>
          <p:nvPr>
            <p:ph idx="4" type="body"/>
          </p:nvPr>
        </p:nvSpPr>
        <p:spPr>
          <a:xfrm>
            <a:off x="452438" y="3648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2" name="Google Shape;22;p3"/>
          <p:cNvSpPr/>
          <p:nvPr>
            <p:ph idx="5" type="body"/>
          </p:nvPr>
        </p:nvSpPr>
        <p:spPr>
          <a:xfrm>
            <a:off x="452438" y="30635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3" name="Google Shape;23;p3"/>
          <p:cNvSpPr/>
          <p:nvPr>
            <p:ph idx="6" type="body"/>
          </p:nvPr>
        </p:nvSpPr>
        <p:spPr>
          <a:xfrm>
            <a:off x="4716645" y="1309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4" name="Google Shape;24;p3"/>
          <p:cNvSpPr/>
          <p:nvPr>
            <p:ph idx="7" type="body"/>
          </p:nvPr>
        </p:nvSpPr>
        <p:spPr>
          <a:xfrm>
            <a:off x="4716645" y="18940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5" name="Google Shape;25;p3"/>
          <p:cNvSpPr/>
          <p:nvPr>
            <p:ph idx="8" type="body"/>
          </p:nvPr>
        </p:nvSpPr>
        <p:spPr>
          <a:xfrm>
            <a:off x="4716645" y="24788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6" name="Google Shape;26;p3"/>
          <p:cNvSpPr/>
          <p:nvPr>
            <p:ph idx="9" type="body"/>
          </p:nvPr>
        </p:nvSpPr>
        <p:spPr>
          <a:xfrm>
            <a:off x="4716645" y="3648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7" name="Google Shape;27;p3"/>
          <p:cNvSpPr/>
          <p:nvPr>
            <p:ph idx="13" type="body"/>
          </p:nvPr>
        </p:nvSpPr>
        <p:spPr>
          <a:xfrm>
            <a:off x="4716645" y="30635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8" name="Google Shape;28;p3"/>
          <p:cNvSpPr txBox="1"/>
          <p:nvPr>
            <p:ph type="title"/>
          </p:nvPr>
        </p:nvSpPr>
        <p:spPr>
          <a:xfrm>
            <a:off x="457200" y="402336"/>
            <a:ext cx="6375300" cy="6573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29" name="Google Shape;29;p3"/>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30" name="Google Shape;30;p3"/>
          <p:cNvSpPr txBox="1"/>
          <p:nvPr>
            <p:ph idx="14" type="subTitle"/>
          </p:nvPr>
        </p:nvSpPr>
        <p:spPr>
          <a:xfrm>
            <a:off x="951200" y="1302125"/>
            <a:ext cx="3476100" cy="395400"/>
          </a:xfrm>
          <a:prstGeom prst="rect">
            <a:avLst/>
          </a:prstGeom>
        </p:spPr>
        <p:txBody>
          <a:bodyPr anchorCtr="0" anchor="ctr" bIns="0" lIns="0" spcFirstLastPara="1" rIns="0" wrap="square" tIns="0">
            <a:normAutofit/>
          </a:bodyPr>
          <a:lstStyle>
            <a:lvl1pPr lvl="0">
              <a:spcBef>
                <a:spcPts val="1200"/>
              </a:spcBef>
              <a:spcAft>
                <a:spcPts val="0"/>
              </a:spcAft>
              <a:buSzPts val="1600"/>
              <a:buNone/>
              <a:defRPr/>
            </a:lvl1pPr>
            <a:lvl2pPr lvl="1">
              <a:spcBef>
                <a:spcPts val="1200"/>
              </a:spcBef>
              <a:spcAft>
                <a:spcPts val="0"/>
              </a:spcAft>
              <a:buSzPts val="1600"/>
              <a:buNone/>
              <a:defRPr/>
            </a:lvl2pPr>
            <a:lvl3pPr lvl="2">
              <a:spcBef>
                <a:spcPts val="1200"/>
              </a:spcBef>
              <a:spcAft>
                <a:spcPts val="0"/>
              </a:spcAft>
              <a:buSzPts val="1600"/>
              <a:buNone/>
              <a:defRPr/>
            </a:lvl3pPr>
            <a:lvl4pPr lvl="3">
              <a:spcBef>
                <a:spcPts val="1200"/>
              </a:spcBef>
              <a:spcAft>
                <a:spcPts val="0"/>
              </a:spcAft>
              <a:buSzPts val="1600"/>
              <a:buNone/>
              <a:defRPr/>
            </a:lvl4pPr>
            <a:lvl5pPr lvl="4">
              <a:spcBef>
                <a:spcPts val="1200"/>
              </a:spcBef>
              <a:spcAft>
                <a:spcPts val="0"/>
              </a:spcAft>
              <a:buSzPts val="1600"/>
              <a:buNone/>
              <a:defRPr/>
            </a:lvl5pPr>
            <a:lvl6pPr lvl="5">
              <a:spcBef>
                <a:spcPts val="1200"/>
              </a:spcBef>
              <a:spcAft>
                <a:spcPts val="0"/>
              </a:spcAft>
              <a:buSzPts val="1600"/>
              <a:buNone/>
              <a:defRPr/>
            </a:lvl6pPr>
            <a:lvl7pPr lvl="6">
              <a:spcBef>
                <a:spcPts val="1200"/>
              </a:spcBef>
              <a:spcAft>
                <a:spcPts val="0"/>
              </a:spcAft>
              <a:buSzPts val="1600"/>
              <a:buNone/>
              <a:defRPr/>
            </a:lvl7pPr>
            <a:lvl8pPr lvl="7">
              <a:spcBef>
                <a:spcPts val="1200"/>
              </a:spcBef>
              <a:spcAft>
                <a:spcPts val="0"/>
              </a:spcAft>
              <a:buSzPts val="1600"/>
              <a:buNone/>
              <a:defRPr/>
            </a:lvl8pPr>
            <a:lvl9pPr lvl="8">
              <a:spcBef>
                <a:spcPts val="1200"/>
              </a:spcBef>
              <a:spcAft>
                <a:spcPts val="0"/>
              </a:spcAft>
              <a:buSzPts val="1600"/>
              <a:buNone/>
              <a:defRPr/>
            </a:lvl9pPr>
          </a:lstStyle>
          <a:p/>
        </p:txBody>
      </p:sp>
      <p:sp>
        <p:nvSpPr>
          <p:cNvPr id="31" name="Google Shape;31;p3"/>
          <p:cNvSpPr txBox="1"/>
          <p:nvPr>
            <p:ph idx="15" type="subTitle"/>
          </p:nvPr>
        </p:nvSpPr>
        <p:spPr>
          <a:xfrm>
            <a:off x="951200" y="18868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2" name="Google Shape;32;p3"/>
          <p:cNvSpPr txBox="1"/>
          <p:nvPr>
            <p:ph idx="16" type="subTitle"/>
          </p:nvPr>
        </p:nvSpPr>
        <p:spPr>
          <a:xfrm>
            <a:off x="951200" y="24716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3" name="Google Shape;33;p3"/>
          <p:cNvSpPr txBox="1"/>
          <p:nvPr>
            <p:ph idx="17" type="subTitle"/>
          </p:nvPr>
        </p:nvSpPr>
        <p:spPr>
          <a:xfrm>
            <a:off x="951200" y="30563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4" name="Google Shape;34;p3"/>
          <p:cNvSpPr txBox="1"/>
          <p:nvPr>
            <p:ph idx="18" type="subTitle"/>
          </p:nvPr>
        </p:nvSpPr>
        <p:spPr>
          <a:xfrm>
            <a:off x="951200" y="36411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5" name="Google Shape;35;p3"/>
          <p:cNvSpPr txBox="1"/>
          <p:nvPr>
            <p:ph idx="19" type="subTitle"/>
          </p:nvPr>
        </p:nvSpPr>
        <p:spPr>
          <a:xfrm>
            <a:off x="5215425" y="13021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6" name="Google Shape;36;p3"/>
          <p:cNvSpPr txBox="1"/>
          <p:nvPr>
            <p:ph idx="20" type="subTitle"/>
          </p:nvPr>
        </p:nvSpPr>
        <p:spPr>
          <a:xfrm>
            <a:off x="5215425" y="18868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7" name="Google Shape;37;p3"/>
          <p:cNvSpPr txBox="1"/>
          <p:nvPr>
            <p:ph idx="21" type="subTitle"/>
          </p:nvPr>
        </p:nvSpPr>
        <p:spPr>
          <a:xfrm>
            <a:off x="5215425" y="24716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8" name="Google Shape;38;p3"/>
          <p:cNvSpPr txBox="1"/>
          <p:nvPr>
            <p:ph idx="22" type="subTitle"/>
          </p:nvPr>
        </p:nvSpPr>
        <p:spPr>
          <a:xfrm>
            <a:off x="5215425" y="30563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9" name="Google Shape;39;p3"/>
          <p:cNvSpPr txBox="1"/>
          <p:nvPr>
            <p:ph idx="23" type="subTitle"/>
          </p:nvPr>
        </p:nvSpPr>
        <p:spPr>
          <a:xfrm>
            <a:off x="5215425" y="36411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Tree>
  </p:cSld>
  <p:clrMapOvr>
    <a:masterClrMapping/>
  </p:clrMapOvr>
  <p:extLst>
    <p:ext uri="{DCECCB84-F9BA-43D5-87BE-67443E8EF086}">
      <p15:sldGuideLst>
        <p15:guide id="1" orient="horz" pos="1069">
          <p15:clr>
            <a:srgbClr val="E46962"/>
          </p15:clr>
        </p15:guide>
        <p15:guide id="2" pos="599">
          <p15:clr>
            <a:srgbClr val="E46962"/>
          </p15:clr>
        </p15:guide>
        <p15:guide id="3" pos="2789">
          <p15:clr>
            <a:srgbClr val="E46962"/>
          </p15:clr>
        </p15:guide>
        <p15:guide id="4" pos="3285">
          <p15:clr>
            <a:srgbClr val="E46962"/>
          </p15:clr>
        </p15:guide>
        <p15:guide id="5" orient="horz" pos="2543">
          <p15:clr>
            <a:srgbClr val="E46962"/>
          </p15:clr>
        </p15:guide>
        <p15:guide id="6" orient="horz" pos="2294">
          <p15:clr>
            <a:srgbClr val="E46962"/>
          </p15:clr>
        </p15:guide>
        <p15:guide id="7" orient="horz" pos="1930">
          <p15:clr>
            <a:srgbClr val="E46962"/>
          </p15:clr>
        </p15:guide>
        <p15:guide id="8" orient="horz" pos="1557">
          <p15:clr>
            <a:srgbClr val="E46962"/>
          </p15:clr>
        </p15:guide>
        <p15:guide id="9" orient="horz" pos="119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RIght">
  <p:cSld name="Photo RIght">
    <p:spTree>
      <p:nvGrpSpPr>
        <p:cNvPr id="40" name="Shape 40"/>
        <p:cNvGrpSpPr/>
        <p:nvPr/>
      </p:nvGrpSpPr>
      <p:grpSpPr>
        <a:xfrm>
          <a:off x="0" y="0"/>
          <a:ext cx="0" cy="0"/>
          <a:chOff x="0" y="0"/>
          <a:chExt cx="0" cy="0"/>
        </a:xfrm>
      </p:grpSpPr>
      <p:sp>
        <p:nvSpPr>
          <p:cNvPr id="41" name="Google Shape;41;p4"/>
          <p:cNvSpPr/>
          <p:nvPr>
            <p:ph idx="2" type="pic"/>
          </p:nvPr>
        </p:nvSpPr>
        <p:spPr>
          <a:xfrm>
            <a:off x="4572000" y="0"/>
            <a:ext cx="4572000" cy="5143500"/>
          </a:xfrm>
          <a:prstGeom prst="rect">
            <a:avLst/>
          </a:prstGeom>
          <a:noFill/>
          <a:ln>
            <a:noFill/>
          </a:ln>
        </p:spPr>
      </p:sp>
      <p:sp>
        <p:nvSpPr>
          <p:cNvPr id="42" name="Google Shape;42;p4"/>
          <p:cNvSpPr txBox="1"/>
          <p:nvPr>
            <p:ph type="title"/>
          </p:nvPr>
        </p:nvSpPr>
        <p:spPr>
          <a:xfrm>
            <a:off x="457200" y="402336"/>
            <a:ext cx="3657599" cy="653653"/>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43" name="Google Shape;43;p4"/>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44" name="Google Shape;44;p4"/>
          <p:cNvSpPr txBox="1"/>
          <p:nvPr>
            <p:ph idx="1" type="body"/>
          </p:nvPr>
        </p:nvSpPr>
        <p:spPr>
          <a:xfrm>
            <a:off x="457075" y="1300175"/>
            <a:ext cx="36576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45" name="Shape 45"/>
        <p:cNvGrpSpPr/>
        <p:nvPr/>
      </p:nvGrpSpPr>
      <p:grpSpPr>
        <a:xfrm>
          <a:off x="0" y="0"/>
          <a:ext cx="0" cy="0"/>
          <a:chOff x="0" y="0"/>
          <a:chExt cx="0" cy="0"/>
        </a:xfrm>
      </p:grpSpPr>
      <p:sp>
        <p:nvSpPr>
          <p:cNvPr id="46" name="Google Shape;46;p5"/>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47" name="Google Shape;47;p5"/>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48" name="Google Shape;48;p5"/>
          <p:cNvSpPr txBox="1"/>
          <p:nvPr>
            <p:ph idx="1" type="body"/>
          </p:nvPr>
        </p:nvSpPr>
        <p:spPr>
          <a:xfrm>
            <a:off x="457200" y="1300175"/>
            <a:ext cx="82296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type="tx">
  <p:cSld name="TITLE_AND_BODY">
    <p:bg>
      <p:bgPr>
        <a:solidFill>
          <a:schemeClr val="dk1"/>
        </a:solidFill>
      </p:bgPr>
    </p:bg>
    <p:spTree>
      <p:nvGrpSpPr>
        <p:cNvPr id="49" name="Shape 49"/>
        <p:cNvGrpSpPr/>
        <p:nvPr/>
      </p:nvGrpSpPr>
      <p:grpSpPr>
        <a:xfrm>
          <a:off x="0" y="0"/>
          <a:ext cx="0" cy="0"/>
          <a:chOff x="0" y="0"/>
          <a:chExt cx="0" cy="0"/>
        </a:xfrm>
      </p:grpSpPr>
      <p:pic>
        <p:nvPicPr>
          <p:cNvPr id="50" name="Google Shape;50;p6"/>
          <p:cNvPicPr preferRelativeResize="0"/>
          <p:nvPr/>
        </p:nvPicPr>
        <p:blipFill rotWithShape="1">
          <a:blip r:embed="rId2">
            <a:alphaModFix/>
          </a:blip>
          <a:srcRect b="0" l="0" r="0" t="91691"/>
          <a:stretch/>
        </p:blipFill>
        <p:spPr>
          <a:xfrm>
            <a:off x="1850" y="4718049"/>
            <a:ext cx="9144000" cy="427531"/>
          </a:xfrm>
          <a:prstGeom prst="rect">
            <a:avLst/>
          </a:prstGeom>
          <a:noFill/>
          <a:ln>
            <a:noFill/>
          </a:ln>
        </p:spPr>
      </p:pic>
      <p:sp>
        <p:nvSpPr>
          <p:cNvPr id="51" name="Google Shape;51;p6"/>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1pPr>
            <a:lvl2pPr indent="0" lvl="1"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2pPr>
            <a:lvl3pPr indent="0" lvl="2"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3pPr>
            <a:lvl4pPr indent="0" lvl="3"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4pPr>
            <a:lvl5pPr indent="0" lvl="4"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5pPr>
            <a:lvl6pPr indent="0" lvl="5"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6pPr>
            <a:lvl7pPr indent="0" lvl="6"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7pPr>
            <a:lvl8pPr indent="0" lvl="7"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8pPr>
            <a:lvl9pPr indent="0" lvl="8"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9pPr>
          </a:lstStyle>
          <a:p>
            <a:pPr indent="0" lvl="0" marL="0" rtl="0" algn="l">
              <a:spcBef>
                <a:spcPts val="0"/>
              </a:spcBef>
              <a:spcAft>
                <a:spcPts val="0"/>
              </a:spcAft>
              <a:buNone/>
            </a:pPr>
            <a:fld id="{00000000-1234-1234-1234-123412341234}" type="slidenum">
              <a:rPr lang="en-US"/>
              <a:t>‹#›</a:t>
            </a:fld>
            <a:endParaRPr/>
          </a:p>
        </p:txBody>
      </p:sp>
      <p:sp>
        <p:nvSpPr>
          <p:cNvPr id="52" name="Google Shape;52;p6"/>
          <p:cNvSpPr txBox="1"/>
          <p:nvPr>
            <p:ph idx="1" type="subTitle"/>
          </p:nvPr>
        </p:nvSpPr>
        <p:spPr>
          <a:xfrm>
            <a:off x="457200" y="400050"/>
            <a:ext cx="8229600" cy="4029000"/>
          </a:xfrm>
          <a:prstGeom prst="rect">
            <a:avLst/>
          </a:prstGeom>
        </p:spPr>
        <p:txBody>
          <a:bodyPr anchorCtr="0" anchor="ctr" bIns="0" lIns="0" spcFirstLastPara="1" rIns="0" wrap="square" tIns="0">
            <a:normAutofit/>
          </a:bodyPr>
          <a:lstStyle>
            <a:lvl1pPr lvl="0" algn="ctr">
              <a:spcBef>
                <a:spcPts val="1200"/>
              </a:spcBef>
              <a:spcAft>
                <a:spcPts val="0"/>
              </a:spcAft>
              <a:buClr>
                <a:schemeClr val="lt2"/>
              </a:buClr>
              <a:buSzPts val="4800"/>
              <a:buFont typeface="Teko SemiBold"/>
              <a:buNone/>
              <a:defRPr sz="4800">
                <a:solidFill>
                  <a:schemeClr val="lt2"/>
                </a:solidFill>
                <a:latin typeface="Teko SemiBold"/>
                <a:ea typeface="Teko SemiBold"/>
                <a:cs typeface="Teko SemiBold"/>
                <a:sym typeface="Teko SemiBold"/>
              </a:defRPr>
            </a:lvl1pPr>
            <a:lvl2pPr lvl="1" algn="ctr">
              <a:spcBef>
                <a:spcPts val="1200"/>
              </a:spcBef>
              <a:spcAft>
                <a:spcPts val="0"/>
              </a:spcAft>
              <a:buSzPts val="1600"/>
              <a:buNone/>
              <a:defRPr/>
            </a:lvl2pPr>
            <a:lvl3pPr lvl="2" algn="ctr">
              <a:spcBef>
                <a:spcPts val="1200"/>
              </a:spcBef>
              <a:spcAft>
                <a:spcPts val="0"/>
              </a:spcAft>
              <a:buSzPts val="1600"/>
              <a:buNone/>
              <a:defRPr/>
            </a:lvl3pPr>
            <a:lvl4pPr lvl="3" algn="ctr">
              <a:spcBef>
                <a:spcPts val="1200"/>
              </a:spcBef>
              <a:spcAft>
                <a:spcPts val="0"/>
              </a:spcAft>
              <a:buSzPts val="1600"/>
              <a:buNone/>
              <a:defRPr/>
            </a:lvl4pPr>
            <a:lvl5pPr lvl="4" algn="ctr">
              <a:spcBef>
                <a:spcPts val="1200"/>
              </a:spcBef>
              <a:spcAft>
                <a:spcPts val="0"/>
              </a:spcAft>
              <a:buSzPts val="1600"/>
              <a:buNone/>
              <a:defRPr/>
            </a:lvl5pPr>
            <a:lvl6pPr lvl="5" algn="ctr">
              <a:spcBef>
                <a:spcPts val="1200"/>
              </a:spcBef>
              <a:spcAft>
                <a:spcPts val="0"/>
              </a:spcAft>
              <a:buSzPts val="1600"/>
              <a:buNone/>
              <a:defRPr/>
            </a:lvl6pPr>
            <a:lvl7pPr lvl="6" algn="ctr">
              <a:spcBef>
                <a:spcPts val="1200"/>
              </a:spcBef>
              <a:spcAft>
                <a:spcPts val="0"/>
              </a:spcAft>
              <a:buSzPts val="1600"/>
              <a:buNone/>
              <a:defRPr/>
            </a:lvl7pPr>
            <a:lvl8pPr lvl="7" algn="ctr">
              <a:spcBef>
                <a:spcPts val="1200"/>
              </a:spcBef>
              <a:spcAft>
                <a:spcPts val="0"/>
              </a:spcAft>
              <a:buSzPts val="1600"/>
              <a:buNone/>
              <a:defRPr/>
            </a:lvl8pPr>
            <a:lvl9pPr lvl="8" algn="ctr">
              <a:spcBef>
                <a:spcPts val="1200"/>
              </a:spcBef>
              <a:spcAft>
                <a:spcPts val="0"/>
              </a:spcAft>
              <a:buSzPts val="16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53" name="Shape 5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chemeClr val="dk1"/>
        </a:solidFill>
      </p:bgPr>
    </p:bg>
    <p:spTree>
      <p:nvGrpSpPr>
        <p:cNvPr id="54" name="Shape 54"/>
        <p:cNvGrpSpPr/>
        <p:nvPr/>
      </p:nvGrpSpPr>
      <p:grpSpPr>
        <a:xfrm>
          <a:off x="0" y="0"/>
          <a:ext cx="0" cy="0"/>
          <a:chOff x="0" y="0"/>
          <a:chExt cx="0" cy="0"/>
        </a:xfrm>
      </p:grpSpPr>
      <p:sp>
        <p:nvSpPr>
          <p:cNvPr id="55" name="Google Shape;55;p8"/>
          <p:cNvSpPr/>
          <p:nvPr>
            <p:ph idx="2" type="pic"/>
          </p:nvPr>
        </p:nvSpPr>
        <p:spPr>
          <a:xfrm>
            <a:off x="0" y="0"/>
            <a:ext cx="9144000" cy="5143500"/>
          </a:xfrm>
          <a:prstGeom prst="rect">
            <a:avLst/>
          </a:prstGeom>
          <a:noFill/>
          <a:ln>
            <a:noFill/>
          </a:ln>
        </p:spPr>
      </p:sp>
      <p:pic>
        <p:nvPicPr>
          <p:cNvPr id="56" name="Google Shape;56;p8"/>
          <p:cNvPicPr preferRelativeResize="0"/>
          <p:nvPr/>
        </p:nvPicPr>
        <p:blipFill rotWithShape="1">
          <a:blip r:embed="rId2">
            <a:alphaModFix/>
          </a:blip>
          <a:srcRect b="0" l="0" r="0" t="91898"/>
          <a:stretch/>
        </p:blipFill>
        <p:spPr>
          <a:xfrm>
            <a:off x="1850" y="4728697"/>
            <a:ext cx="9144000" cy="416883"/>
          </a:xfrm>
          <a:prstGeom prst="rect">
            <a:avLst/>
          </a:prstGeom>
          <a:noFill/>
          <a:ln>
            <a:noFill/>
          </a:ln>
        </p:spPr>
      </p:pic>
      <p:pic>
        <p:nvPicPr>
          <p:cNvPr id="57" name="Google Shape;57;p8"/>
          <p:cNvPicPr preferRelativeResize="0"/>
          <p:nvPr/>
        </p:nvPicPr>
        <p:blipFill rotWithShape="1">
          <a:blip r:embed="rId3">
            <a:alphaModFix/>
          </a:blip>
          <a:srcRect b="79429" l="0" r="0" t="26"/>
          <a:stretch/>
        </p:blipFill>
        <p:spPr>
          <a:xfrm>
            <a:off x="1850" y="0"/>
            <a:ext cx="9140300" cy="1057275"/>
          </a:xfrm>
          <a:prstGeom prst="rect">
            <a:avLst/>
          </a:prstGeom>
          <a:noFill/>
          <a:ln>
            <a:noFill/>
          </a:ln>
        </p:spPr>
      </p:pic>
      <p:sp>
        <p:nvSpPr>
          <p:cNvPr id="58" name="Google Shape;58;p8"/>
          <p:cNvSpPr/>
          <p:nvPr>
            <p:ph idx="3" type="pic"/>
          </p:nvPr>
        </p:nvSpPr>
        <p:spPr>
          <a:xfrm>
            <a:off x="6819843" y="286172"/>
            <a:ext cx="2009775" cy="382258"/>
          </a:xfrm>
          <a:prstGeom prst="rect">
            <a:avLst/>
          </a:prstGeom>
          <a:noFill/>
          <a:ln>
            <a:noFill/>
          </a:ln>
        </p:spPr>
      </p:sp>
      <p:sp>
        <p:nvSpPr>
          <p:cNvPr id="59" name="Google Shape;59;p8"/>
          <p:cNvSpPr txBox="1"/>
          <p:nvPr>
            <p:ph type="title"/>
          </p:nvPr>
        </p:nvSpPr>
        <p:spPr>
          <a:xfrm>
            <a:off x="457200" y="2263818"/>
            <a:ext cx="8229600" cy="1743075"/>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rgbClr val="FFFFFF"/>
              </a:buClr>
              <a:buSzPts val="5200"/>
              <a:buFont typeface="Teko SemiBold"/>
              <a:buNone/>
              <a:defRPr sz="5200">
                <a:solidFill>
                  <a:srgbClr val="FFFFFF"/>
                </a:solidFill>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60" name="Google Shape;60;p8"/>
          <p:cNvSpPr txBox="1"/>
          <p:nvPr>
            <p:ph idx="1" type="subTitle"/>
          </p:nvPr>
        </p:nvSpPr>
        <p:spPr>
          <a:xfrm>
            <a:off x="450450" y="412900"/>
            <a:ext cx="5400900" cy="240900"/>
          </a:xfrm>
          <a:prstGeom prst="rect">
            <a:avLst/>
          </a:prstGeom>
        </p:spPr>
        <p:txBody>
          <a:bodyPr anchorCtr="0" anchor="t" bIns="0" lIns="0" spcFirstLastPara="1" rIns="0" wrap="square" tIns="0">
            <a:normAutofit/>
          </a:bodyPr>
          <a:lstStyle>
            <a:lvl1pPr lvl="0">
              <a:spcBef>
                <a:spcPts val="1200"/>
              </a:spcBef>
              <a:spcAft>
                <a:spcPts val="0"/>
              </a:spcAft>
              <a:buClr>
                <a:schemeClr val="lt2"/>
              </a:buClr>
              <a:buSzPts val="1100"/>
              <a:buNone/>
              <a:defRPr sz="1100">
                <a:solidFill>
                  <a:schemeClr val="lt2"/>
                </a:solidFill>
              </a:defRPr>
            </a:lvl1pPr>
            <a:lvl2pPr lvl="1">
              <a:spcBef>
                <a:spcPts val="1200"/>
              </a:spcBef>
              <a:spcAft>
                <a:spcPts val="0"/>
              </a:spcAft>
              <a:buSzPts val="1600"/>
              <a:buNone/>
              <a:defRPr/>
            </a:lvl2pPr>
            <a:lvl3pPr lvl="2">
              <a:spcBef>
                <a:spcPts val="1200"/>
              </a:spcBef>
              <a:spcAft>
                <a:spcPts val="0"/>
              </a:spcAft>
              <a:buSzPts val="1600"/>
              <a:buNone/>
              <a:defRPr/>
            </a:lvl3pPr>
            <a:lvl4pPr lvl="3">
              <a:spcBef>
                <a:spcPts val="1200"/>
              </a:spcBef>
              <a:spcAft>
                <a:spcPts val="0"/>
              </a:spcAft>
              <a:buSzPts val="1600"/>
              <a:buNone/>
              <a:defRPr/>
            </a:lvl4pPr>
            <a:lvl5pPr lvl="4">
              <a:spcBef>
                <a:spcPts val="1200"/>
              </a:spcBef>
              <a:spcAft>
                <a:spcPts val="0"/>
              </a:spcAft>
              <a:buSzPts val="1600"/>
              <a:buNone/>
              <a:defRPr/>
            </a:lvl5pPr>
            <a:lvl6pPr lvl="5">
              <a:spcBef>
                <a:spcPts val="1200"/>
              </a:spcBef>
              <a:spcAft>
                <a:spcPts val="0"/>
              </a:spcAft>
              <a:buSzPts val="1600"/>
              <a:buNone/>
              <a:defRPr/>
            </a:lvl6pPr>
            <a:lvl7pPr lvl="6">
              <a:spcBef>
                <a:spcPts val="1200"/>
              </a:spcBef>
              <a:spcAft>
                <a:spcPts val="0"/>
              </a:spcAft>
              <a:buSzPts val="1600"/>
              <a:buNone/>
              <a:defRPr/>
            </a:lvl7pPr>
            <a:lvl8pPr lvl="7">
              <a:spcBef>
                <a:spcPts val="1200"/>
              </a:spcBef>
              <a:spcAft>
                <a:spcPts val="0"/>
              </a:spcAft>
              <a:buSzPts val="1600"/>
              <a:buNone/>
              <a:defRPr/>
            </a:lvl8pPr>
            <a:lvl9pPr lvl="8">
              <a:spcBef>
                <a:spcPts val="1200"/>
              </a:spcBef>
              <a:spcAft>
                <a:spcPts val="0"/>
              </a:spcAft>
              <a:buSzPts val="1600"/>
              <a:buNone/>
              <a:defRPr/>
            </a:lvl9pPr>
          </a:lstStyle>
          <a:p/>
        </p:txBody>
      </p:sp>
      <p:sp>
        <p:nvSpPr>
          <p:cNvPr id="61" name="Google Shape;61;p8"/>
          <p:cNvSpPr txBox="1"/>
          <p:nvPr>
            <p:ph idx="4" type="subTitle"/>
          </p:nvPr>
        </p:nvSpPr>
        <p:spPr>
          <a:xfrm>
            <a:off x="450450" y="4020350"/>
            <a:ext cx="8229600" cy="408900"/>
          </a:xfrm>
          <a:prstGeom prst="rect">
            <a:avLst/>
          </a:prstGeom>
        </p:spPr>
        <p:txBody>
          <a:bodyPr anchorCtr="0" anchor="t" bIns="0" lIns="0" spcFirstLastPara="1" rIns="0" wrap="square" tIns="0">
            <a:normAutofit/>
          </a:bodyPr>
          <a:lstStyle>
            <a:lvl1pPr lvl="0">
              <a:spcBef>
                <a:spcPts val="1200"/>
              </a:spcBef>
              <a:spcAft>
                <a:spcPts val="0"/>
              </a:spcAft>
              <a:buClr>
                <a:schemeClr val="lt1"/>
              </a:buClr>
              <a:buSzPts val="1800"/>
              <a:buFont typeface="Source Sans 3 SemiBold"/>
              <a:buNone/>
              <a:defRPr sz="1800">
                <a:solidFill>
                  <a:schemeClr val="lt1"/>
                </a:solidFill>
                <a:latin typeface="Source Sans 3 SemiBold"/>
                <a:ea typeface="Source Sans 3 SemiBold"/>
                <a:cs typeface="Source Sans 3 SemiBold"/>
                <a:sym typeface="Source Sans 3 SemiBold"/>
              </a:defRPr>
            </a:lvl1pPr>
            <a:lvl2pPr lvl="1">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2pPr>
            <a:lvl3pPr lvl="2">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3pPr>
            <a:lvl4pPr lvl="3">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4pPr>
            <a:lvl5pPr lvl="4">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5pPr>
            <a:lvl6pPr lvl="5">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6pPr>
            <a:lvl7pPr lvl="6">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7pPr>
            <a:lvl8pPr lvl="7">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8pPr>
            <a:lvl9pPr lvl="8">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9pPr>
          </a:lstStyle>
          <a:p/>
        </p:txBody>
      </p:sp>
    </p:spTree>
  </p:cSld>
  <p:clrMapOvr>
    <a:masterClrMapping/>
  </p:clrMapOvr>
  <p:extLst>
    <p:ext uri="{DCECCB84-F9BA-43D5-87BE-67443E8EF086}">
      <p15:sldGuideLst>
        <p15:guide id="1" orient="horz" pos="412">
          <p15:clr>
            <a:srgbClr val="E46962"/>
          </p15:clr>
        </p15:guide>
        <p15:guide id="2" pos="3686">
          <p15:clr>
            <a:srgbClr val="E46962"/>
          </p15:clr>
        </p15:guide>
        <p15:guide id="3" orient="horz" pos="2533">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imple">
  <p:cSld name="Agenda Simple">
    <p:spTree>
      <p:nvGrpSpPr>
        <p:cNvPr id="62" name="Shape 62"/>
        <p:cNvGrpSpPr/>
        <p:nvPr/>
      </p:nvGrpSpPr>
      <p:grpSpPr>
        <a:xfrm>
          <a:off x="0" y="0"/>
          <a:ext cx="0" cy="0"/>
          <a:chOff x="0" y="0"/>
          <a:chExt cx="0" cy="0"/>
        </a:xfrm>
      </p:grpSpPr>
      <p:sp>
        <p:nvSpPr>
          <p:cNvPr id="63" name="Google Shape;63;p9"/>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64" name="Google Shape;64;p9"/>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65" name="Google Shape;65;p9"/>
          <p:cNvSpPr txBox="1"/>
          <p:nvPr>
            <p:ph idx="1" type="body"/>
          </p:nvPr>
        </p:nvSpPr>
        <p:spPr>
          <a:xfrm>
            <a:off x="457075" y="1300175"/>
            <a:ext cx="82296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p:cSld name="Title &amp; Photo Alt">
    <p:spTree>
      <p:nvGrpSpPr>
        <p:cNvPr id="66" name="Shape 66"/>
        <p:cNvGrpSpPr/>
        <p:nvPr/>
      </p:nvGrpSpPr>
      <p:grpSpPr>
        <a:xfrm>
          <a:off x="0" y="0"/>
          <a:ext cx="0" cy="0"/>
          <a:chOff x="0" y="0"/>
          <a:chExt cx="0" cy="0"/>
        </a:xfrm>
      </p:grpSpPr>
      <p:sp>
        <p:nvSpPr>
          <p:cNvPr id="67" name="Google Shape;67;p10"/>
          <p:cNvSpPr/>
          <p:nvPr>
            <p:ph idx="2" type="pic"/>
          </p:nvPr>
        </p:nvSpPr>
        <p:spPr>
          <a:xfrm>
            <a:off x="0" y="0"/>
            <a:ext cx="4572000" cy="5143500"/>
          </a:xfrm>
          <a:prstGeom prst="rect">
            <a:avLst/>
          </a:prstGeom>
          <a:noFill/>
          <a:ln>
            <a:noFill/>
          </a:ln>
        </p:spPr>
      </p:sp>
      <p:sp>
        <p:nvSpPr>
          <p:cNvPr id="68" name="Google Shape;68;p10"/>
          <p:cNvSpPr txBox="1"/>
          <p:nvPr>
            <p:ph type="title"/>
          </p:nvPr>
        </p:nvSpPr>
        <p:spPr>
          <a:xfrm>
            <a:off x="5001965" y="813547"/>
            <a:ext cx="3684834" cy="1758203"/>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69" name="Google Shape;69;p10"/>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70" name="Google Shape;70;p10"/>
          <p:cNvSpPr txBox="1"/>
          <p:nvPr>
            <p:ph idx="1" type="subTitle"/>
          </p:nvPr>
        </p:nvSpPr>
        <p:spPr>
          <a:xfrm>
            <a:off x="5001975" y="2641600"/>
            <a:ext cx="3684900" cy="1787400"/>
          </a:xfrm>
          <a:prstGeom prst="rect">
            <a:avLst/>
          </a:prstGeom>
        </p:spPr>
        <p:txBody>
          <a:bodyPr anchorCtr="0" anchor="t" bIns="0" lIns="0" spcFirstLastPara="1" rIns="0" wrap="square" tIns="0">
            <a:normAutofit/>
          </a:bodyPr>
          <a:lstStyle>
            <a:lvl1pPr lvl="0">
              <a:spcBef>
                <a:spcPts val="1200"/>
              </a:spcBef>
              <a:spcAft>
                <a:spcPts val="0"/>
              </a:spcAft>
              <a:buSzPts val="1700"/>
              <a:buFont typeface="Source Sans 3 Medium"/>
              <a:buNone/>
              <a:defRPr sz="1700">
                <a:latin typeface="Source Sans 3 Medium"/>
                <a:ea typeface="Source Sans 3 Medium"/>
                <a:cs typeface="Source Sans 3 Medium"/>
                <a:sym typeface="Source Sans 3 Medium"/>
              </a:defRPr>
            </a:lvl1pPr>
            <a:lvl2pPr lvl="1">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2pPr>
            <a:lvl3pPr lvl="2">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3pPr>
            <a:lvl4pPr lvl="3">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4pPr>
            <a:lvl5pPr lvl="4">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5pPr>
            <a:lvl6pPr lvl="5">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6pPr>
            <a:lvl7pPr lvl="6">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7pPr>
            <a:lvl8pPr lvl="7">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8pPr>
            <a:lvl9pPr lvl="8">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solidFill>
          <a:schemeClr val="dk1"/>
        </a:solidFill>
      </p:bgPr>
    </p:bg>
    <p:spTree>
      <p:nvGrpSpPr>
        <p:cNvPr id="71" name="Shape 71"/>
        <p:cNvGrpSpPr/>
        <p:nvPr/>
      </p:nvGrpSpPr>
      <p:grpSpPr>
        <a:xfrm>
          <a:off x="0" y="0"/>
          <a:ext cx="0" cy="0"/>
          <a:chOff x="0" y="0"/>
          <a:chExt cx="0" cy="0"/>
        </a:xfrm>
      </p:grpSpPr>
      <p:pic>
        <p:nvPicPr>
          <p:cNvPr id="72" name="Google Shape;72;p11"/>
          <p:cNvPicPr preferRelativeResize="0"/>
          <p:nvPr/>
        </p:nvPicPr>
        <p:blipFill rotWithShape="1">
          <a:blip r:embed="rId2">
            <a:alphaModFix/>
          </a:blip>
          <a:srcRect b="0" l="0" r="0" t="91691"/>
          <a:stretch/>
        </p:blipFill>
        <p:spPr>
          <a:xfrm>
            <a:off x="1850" y="4718049"/>
            <a:ext cx="9144000" cy="427531"/>
          </a:xfrm>
          <a:prstGeom prst="rect">
            <a:avLst/>
          </a:prstGeom>
          <a:noFill/>
          <a:ln>
            <a:noFill/>
          </a:ln>
        </p:spPr>
      </p:pic>
      <p:sp>
        <p:nvSpPr>
          <p:cNvPr id="73" name="Google Shape;73;p11"/>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1pPr>
            <a:lvl2pPr indent="0" lvl="1"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2pPr>
            <a:lvl3pPr indent="0" lvl="2"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3pPr>
            <a:lvl4pPr indent="0" lvl="3"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4pPr>
            <a:lvl5pPr indent="0" lvl="4"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5pPr>
            <a:lvl6pPr indent="0" lvl="5"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6pPr>
            <a:lvl7pPr indent="0" lvl="6"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7pPr>
            <a:lvl8pPr indent="0" lvl="7"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8pPr>
            <a:lvl9pPr indent="0" lvl="8"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9pPr>
          </a:lstStyle>
          <a:p>
            <a:pPr indent="0" lvl="0" marL="0" rtl="0" algn="l">
              <a:spcBef>
                <a:spcPts val="0"/>
              </a:spcBef>
              <a:spcAft>
                <a:spcPts val="0"/>
              </a:spcAft>
              <a:buNone/>
            </a:pPr>
            <a:fld id="{00000000-1234-1234-1234-123412341234}" type="slidenum">
              <a:rPr lang="en-US"/>
              <a:t>‹#›</a:t>
            </a:fld>
            <a:endParaRPr/>
          </a:p>
        </p:txBody>
      </p:sp>
      <p:sp>
        <p:nvSpPr>
          <p:cNvPr id="74" name="Google Shape;74;p11"/>
          <p:cNvSpPr txBox="1"/>
          <p:nvPr>
            <p:ph type="title"/>
          </p:nvPr>
        </p:nvSpPr>
        <p:spPr>
          <a:xfrm>
            <a:off x="457200" y="1522413"/>
            <a:ext cx="8229599" cy="1743075"/>
          </a:xfrm>
          <a:prstGeom prst="rect">
            <a:avLst/>
          </a:prstGeom>
          <a:noFill/>
          <a:ln>
            <a:noFill/>
          </a:ln>
        </p:spPr>
        <p:txBody>
          <a:bodyPr anchorCtr="0" anchor="ctr" bIns="0" lIns="0" spcFirstLastPara="1" rIns="0" wrap="square" tIns="0">
            <a:normAutofit/>
          </a:bodyPr>
          <a:lstStyle>
            <a:lvl1pPr lvl="0" algn="l">
              <a:lnSpc>
                <a:spcPct val="80000"/>
              </a:lnSpc>
              <a:spcBef>
                <a:spcPts val="0"/>
              </a:spcBef>
              <a:spcAft>
                <a:spcPts val="0"/>
              </a:spcAft>
              <a:buClr>
                <a:srgbClr val="FFFFFF"/>
              </a:buClr>
              <a:buSzPts val="4800"/>
              <a:buNone/>
              <a:defRPr i="0" sz="4800">
                <a:solidFill>
                  <a:srgbClr val="FFFFFF"/>
                </a:solidFill>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75" name="Shape 75"/>
        <p:cNvGrpSpPr/>
        <p:nvPr/>
      </p:nvGrpSpPr>
      <p:grpSpPr>
        <a:xfrm>
          <a:off x="0" y="0"/>
          <a:ext cx="0" cy="0"/>
          <a:chOff x="0" y="0"/>
          <a:chExt cx="0" cy="0"/>
        </a:xfrm>
      </p:grpSpPr>
      <p:sp>
        <p:nvSpPr>
          <p:cNvPr id="76" name="Google Shape;76;p12"/>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77" name="Google Shape;77;p12"/>
          <p:cNvSpPr txBox="1"/>
          <p:nvPr>
            <p:ph idx="1" type="body"/>
          </p:nvPr>
        </p:nvSpPr>
        <p:spPr>
          <a:xfrm>
            <a:off x="457200" y="1300163"/>
            <a:ext cx="8229600" cy="312896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600"/>
              <a:buNone/>
              <a:defRPr/>
            </a:lvl1pPr>
            <a:lvl2pPr indent="-228600" lvl="1" marL="914400" algn="l">
              <a:lnSpc>
                <a:spcPct val="100000"/>
              </a:lnSpc>
              <a:spcBef>
                <a:spcPts val="1200"/>
              </a:spcBef>
              <a:spcAft>
                <a:spcPts val="0"/>
              </a:spcAft>
              <a:buClr>
                <a:schemeClr val="dk1"/>
              </a:buClr>
              <a:buSzPts val="1600"/>
              <a:buNone/>
              <a:defRPr/>
            </a:lvl2pPr>
            <a:lvl3pPr indent="-228600" lvl="2" marL="1371600" algn="l">
              <a:lnSpc>
                <a:spcPct val="100000"/>
              </a:lnSpc>
              <a:spcBef>
                <a:spcPts val="1200"/>
              </a:spcBef>
              <a:spcAft>
                <a:spcPts val="0"/>
              </a:spcAft>
              <a:buClr>
                <a:schemeClr val="dk1"/>
              </a:buClr>
              <a:buSzPts val="1600"/>
              <a:buNone/>
              <a:defRPr/>
            </a:lvl3pPr>
            <a:lvl4pPr indent="-228600" lvl="3" marL="1828800" algn="l">
              <a:lnSpc>
                <a:spcPct val="100000"/>
              </a:lnSpc>
              <a:spcBef>
                <a:spcPts val="1200"/>
              </a:spcBef>
              <a:spcAft>
                <a:spcPts val="0"/>
              </a:spcAft>
              <a:buClr>
                <a:schemeClr val="dk1"/>
              </a:buClr>
              <a:buSzPts val="1600"/>
              <a:buNone/>
              <a:defRPr/>
            </a:lvl4pPr>
            <a:lvl5pPr indent="-228600" lvl="4" marL="2286000" algn="l">
              <a:lnSpc>
                <a:spcPct val="100000"/>
              </a:lnSpc>
              <a:spcBef>
                <a:spcPts val="1200"/>
              </a:spcBef>
              <a:spcAft>
                <a:spcPts val="0"/>
              </a:spcAft>
              <a:buClr>
                <a:schemeClr val="dk1"/>
              </a:buClr>
              <a:buSzPts val="1600"/>
              <a:buNone/>
              <a:defRPr/>
            </a:lvl5pPr>
            <a:lvl6pPr indent="-330200" lvl="5" marL="2743200" algn="l">
              <a:lnSpc>
                <a:spcPct val="100000"/>
              </a:lnSpc>
              <a:spcBef>
                <a:spcPts val="1200"/>
              </a:spcBef>
              <a:spcAft>
                <a:spcPts val="0"/>
              </a:spcAft>
              <a:buClr>
                <a:schemeClr val="dk1"/>
              </a:buClr>
              <a:buSzPts val="1600"/>
              <a:buChar char="•"/>
              <a:defRPr/>
            </a:lvl6pPr>
            <a:lvl7pPr indent="-330200" lvl="6" marL="3200400" algn="l">
              <a:lnSpc>
                <a:spcPct val="100000"/>
              </a:lnSpc>
              <a:spcBef>
                <a:spcPts val="1200"/>
              </a:spcBef>
              <a:spcAft>
                <a:spcPts val="0"/>
              </a:spcAft>
              <a:buClr>
                <a:schemeClr val="dk1"/>
              </a:buClr>
              <a:buSzPts val="1600"/>
              <a:buChar char="•"/>
              <a:defRPr/>
            </a:lvl7pPr>
            <a:lvl8pPr indent="-330200" lvl="7" marL="3657600" algn="l">
              <a:lnSpc>
                <a:spcPct val="100000"/>
              </a:lnSpc>
              <a:spcBef>
                <a:spcPts val="1200"/>
              </a:spcBef>
              <a:spcAft>
                <a:spcPts val="0"/>
              </a:spcAft>
              <a:buClr>
                <a:schemeClr val="dk1"/>
              </a:buClr>
              <a:buSzPts val="1600"/>
              <a:buChar char="•"/>
              <a:defRPr/>
            </a:lvl8pPr>
            <a:lvl9pPr indent="-330200" lvl="8" marL="4114800" algn="l">
              <a:lnSpc>
                <a:spcPct val="100000"/>
              </a:lnSpc>
              <a:spcBef>
                <a:spcPts val="1200"/>
              </a:spcBef>
              <a:spcAft>
                <a:spcPts val="0"/>
              </a:spcAft>
              <a:buClr>
                <a:schemeClr val="dk1"/>
              </a:buClr>
              <a:buSzPts val="1600"/>
              <a:buChar char="•"/>
              <a:defRPr/>
            </a:lvl9pPr>
          </a:lstStyle>
          <a:p/>
        </p:txBody>
      </p:sp>
      <p:sp>
        <p:nvSpPr>
          <p:cNvPr id="78" name="Google Shape;78;p12"/>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2 Columns">
  <p:cSld name="Title &amp; 2 Columns">
    <p:spTree>
      <p:nvGrpSpPr>
        <p:cNvPr id="79" name="Shape 79"/>
        <p:cNvGrpSpPr/>
        <p:nvPr/>
      </p:nvGrpSpPr>
      <p:grpSpPr>
        <a:xfrm>
          <a:off x="0" y="0"/>
          <a:ext cx="0" cy="0"/>
          <a:chOff x="0" y="0"/>
          <a:chExt cx="0" cy="0"/>
        </a:xfrm>
      </p:grpSpPr>
      <p:sp>
        <p:nvSpPr>
          <p:cNvPr id="80" name="Google Shape;80;p13"/>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81" name="Google Shape;81;p13"/>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82" name="Google Shape;82;p13"/>
          <p:cNvSpPr txBox="1"/>
          <p:nvPr>
            <p:ph idx="1" type="body"/>
          </p:nvPr>
        </p:nvSpPr>
        <p:spPr>
          <a:xfrm>
            <a:off x="457200" y="1300175"/>
            <a:ext cx="39504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
        <p:nvSpPr>
          <p:cNvPr id="83" name="Google Shape;83;p13"/>
          <p:cNvSpPr txBox="1"/>
          <p:nvPr>
            <p:ph idx="2" type="body"/>
          </p:nvPr>
        </p:nvSpPr>
        <p:spPr>
          <a:xfrm>
            <a:off x="4736400" y="1300175"/>
            <a:ext cx="3950400" cy="3129000"/>
          </a:xfrm>
          <a:prstGeom prst="rect">
            <a:avLst/>
          </a:prstGeom>
        </p:spPr>
        <p:txBody>
          <a:bodyPr anchorCtr="0" anchor="t" bIns="0" lIns="0" spcFirstLastPara="1" rIns="0" wrap="square" tIns="0">
            <a:normAutofit/>
          </a:bodyPr>
          <a:lstStyle>
            <a:lvl1pPr indent="-330200" lvl="0" marL="457200" rtl="0">
              <a:spcBef>
                <a:spcPts val="1200"/>
              </a:spcBef>
              <a:spcAft>
                <a:spcPts val="0"/>
              </a:spcAft>
              <a:buSzPts val="1600"/>
              <a:buChar char="•"/>
              <a:defRPr/>
            </a:lvl1pPr>
            <a:lvl2pPr indent="-330200" lvl="1" marL="914400" rtl="0">
              <a:spcBef>
                <a:spcPts val="1200"/>
              </a:spcBef>
              <a:spcAft>
                <a:spcPts val="0"/>
              </a:spcAft>
              <a:buSzPts val="1600"/>
              <a:buChar char="•"/>
              <a:defRPr/>
            </a:lvl2pPr>
            <a:lvl3pPr indent="-330200" lvl="2" marL="1371600" rtl="0">
              <a:spcBef>
                <a:spcPts val="1200"/>
              </a:spcBef>
              <a:spcAft>
                <a:spcPts val="0"/>
              </a:spcAft>
              <a:buSzPts val="1600"/>
              <a:buChar char="•"/>
              <a:defRPr/>
            </a:lvl3pPr>
            <a:lvl4pPr indent="-330200" lvl="3" marL="1828800" rtl="0">
              <a:spcBef>
                <a:spcPts val="1200"/>
              </a:spcBef>
              <a:spcAft>
                <a:spcPts val="0"/>
              </a:spcAft>
              <a:buSzPts val="1600"/>
              <a:buChar char="•"/>
              <a:defRPr/>
            </a:lvl4pPr>
            <a:lvl5pPr indent="-330200" lvl="4" marL="2286000" rtl="0">
              <a:spcBef>
                <a:spcPts val="1200"/>
              </a:spcBef>
              <a:spcAft>
                <a:spcPts val="0"/>
              </a:spcAft>
              <a:buSzPts val="1600"/>
              <a:buChar char="•"/>
              <a:defRPr/>
            </a:lvl5pPr>
            <a:lvl6pPr indent="-330200" lvl="5" marL="2743200" rtl="0">
              <a:spcBef>
                <a:spcPts val="1200"/>
              </a:spcBef>
              <a:spcAft>
                <a:spcPts val="0"/>
              </a:spcAft>
              <a:buSzPts val="1600"/>
              <a:buChar char="•"/>
              <a:defRPr/>
            </a:lvl6pPr>
            <a:lvl7pPr indent="-330200" lvl="6" marL="3200400" rtl="0">
              <a:spcBef>
                <a:spcPts val="1200"/>
              </a:spcBef>
              <a:spcAft>
                <a:spcPts val="0"/>
              </a:spcAft>
              <a:buSzPts val="1600"/>
              <a:buChar char="•"/>
              <a:defRPr/>
            </a:lvl7pPr>
            <a:lvl8pPr indent="-330200" lvl="7" marL="3657600" rtl="0">
              <a:spcBef>
                <a:spcPts val="1200"/>
              </a:spcBef>
              <a:spcAft>
                <a:spcPts val="0"/>
              </a:spcAft>
              <a:buSzPts val="1600"/>
              <a:buChar char="•"/>
              <a:defRPr/>
            </a:lvl8pPr>
            <a:lvl9pPr indent="-330200" lvl="8" marL="4114800" rtl="0">
              <a:spcBef>
                <a:spcPts val="1200"/>
              </a:spcBef>
              <a:spcAft>
                <a:spcPts val="0"/>
              </a:spcAft>
              <a:buSzPts val="16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 name="Shape 84"/>
        <p:cNvGrpSpPr/>
        <p:nvPr/>
      </p:nvGrpSpPr>
      <p:grpSpPr>
        <a:xfrm>
          <a:off x="0" y="0"/>
          <a:ext cx="0" cy="0"/>
          <a:chOff x="0" y="0"/>
          <a:chExt cx="0" cy="0"/>
        </a:xfrm>
      </p:grpSpPr>
      <p:sp>
        <p:nvSpPr>
          <p:cNvPr id="85" name="Google Shape;85;p14"/>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86" name="Google Shape;86;p14"/>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p:cSld name="Big Fact">
    <p:spTree>
      <p:nvGrpSpPr>
        <p:cNvPr id="87" name="Shape 87"/>
        <p:cNvGrpSpPr/>
        <p:nvPr/>
      </p:nvGrpSpPr>
      <p:grpSpPr>
        <a:xfrm>
          <a:off x="0" y="0"/>
          <a:ext cx="0" cy="0"/>
          <a:chOff x="0" y="0"/>
          <a:chExt cx="0" cy="0"/>
        </a:xfrm>
      </p:grpSpPr>
      <p:sp>
        <p:nvSpPr>
          <p:cNvPr id="88" name="Google Shape;88;p15"/>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89" name="Google Shape;89;p15"/>
          <p:cNvSpPr txBox="1"/>
          <p:nvPr>
            <p:ph type="title"/>
          </p:nvPr>
        </p:nvSpPr>
        <p:spPr>
          <a:xfrm>
            <a:off x="457200" y="891100"/>
            <a:ext cx="8229600" cy="2381700"/>
          </a:xfrm>
          <a:prstGeom prst="rect">
            <a:avLst/>
          </a:prstGeom>
        </p:spPr>
        <p:txBody>
          <a:bodyPr anchorCtr="0" anchor="b" bIns="0" lIns="0" spcFirstLastPara="1" rIns="0" wrap="square" tIns="0">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p:txBody>
      </p:sp>
      <p:sp>
        <p:nvSpPr>
          <p:cNvPr id="90" name="Google Shape;90;p15"/>
          <p:cNvSpPr txBox="1"/>
          <p:nvPr>
            <p:ph idx="1" type="subTitle"/>
          </p:nvPr>
        </p:nvSpPr>
        <p:spPr>
          <a:xfrm>
            <a:off x="457200" y="3098325"/>
            <a:ext cx="8229600" cy="472800"/>
          </a:xfrm>
          <a:prstGeom prst="rect">
            <a:avLst/>
          </a:prstGeom>
        </p:spPr>
        <p:txBody>
          <a:bodyPr anchorCtr="0" anchor="t" bIns="0" lIns="0" spcFirstLastPara="1" rIns="0" wrap="square" tIns="0">
            <a:normAutofit/>
          </a:bodyPr>
          <a:lstStyle>
            <a:lvl1pPr lvl="0" algn="ctr">
              <a:spcBef>
                <a:spcPts val="1200"/>
              </a:spcBef>
              <a:spcAft>
                <a:spcPts val="0"/>
              </a:spcAft>
              <a:buSzPts val="2050"/>
              <a:buFont typeface="Source Sans 3 SemiBold"/>
              <a:buNone/>
              <a:defRPr sz="2050">
                <a:latin typeface="Source Sans 3 SemiBold"/>
                <a:ea typeface="Source Sans 3 SemiBold"/>
                <a:cs typeface="Source Sans 3 SemiBold"/>
                <a:sym typeface="Source Sans 3 SemiBold"/>
              </a:defRPr>
            </a:lvl1pPr>
            <a:lvl2pPr lvl="1">
              <a:spcBef>
                <a:spcPts val="1200"/>
              </a:spcBef>
              <a:spcAft>
                <a:spcPts val="0"/>
              </a:spcAft>
              <a:buSzPts val="1600"/>
              <a:buNone/>
              <a:defRPr/>
            </a:lvl2pPr>
            <a:lvl3pPr lvl="2">
              <a:spcBef>
                <a:spcPts val="1200"/>
              </a:spcBef>
              <a:spcAft>
                <a:spcPts val="0"/>
              </a:spcAft>
              <a:buSzPts val="1600"/>
              <a:buNone/>
              <a:defRPr/>
            </a:lvl3pPr>
            <a:lvl4pPr lvl="3">
              <a:spcBef>
                <a:spcPts val="1200"/>
              </a:spcBef>
              <a:spcAft>
                <a:spcPts val="0"/>
              </a:spcAft>
              <a:buSzPts val="1600"/>
              <a:buNone/>
              <a:defRPr/>
            </a:lvl4pPr>
            <a:lvl5pPr lvl="4">
              <a:spcBef>
                <a:spcPts val="1200"/>
              </a:spcBef>
              <a:spcAft>
                <a:spcPts val="0"/>
              </a:spcAft>
              <a:buSzPts val="1600"/>
              <a:buNone/>
              <a:defRPr/>
            </a:lvl5pPr>
            <a:lvl6pPr lvl="5">
              <a:spcBef>
                <a:spcPts val="1200"/>
              </a:spcBef>
              <a:spcAft>
                <a:spcPts val="0"/>
              </a:spcAft>
              <a:buSzPts val="1600"/>
              <a:buNone/>
              <a:defRPr/>
            </a:lvl6pPr>
            <a:lvl7pPr lvl="6">
              <a:spcBef>
                <a:spcPts val="1200"/>
              </a:spcBef>
              <a:spcAft>
                <a:spcPts val="0"/>
              </a:spcAft>
              <a:buSzPts val="1600"/>
              <a:buNone/>
              <a:defRPr/>
            </a:lvl7pPr>
            <a:lvl8pPr lvl="7">
              <a:spcBef>
                <a:spcPts val="1200"/>
              </a:spcBef>
              <a:spcAft>
                <a:spcPts val="0"/>
              </a:spcAft>
              <a:buSzPts val="1600"/>
              <a:buNone/>
              <a:defRPr/>
            </a:lvl8pPr>
            <a:lvl9pPr lvl="8">
              <a:spcBef>
                <a:spcPts val="1200"/>
              </a:spcBef>
              <a:spcAft>
                <a:spcPts val="0"/>
              </a:spcAft>
              <a:buSzPts val="16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91" name="Shape 91"/>
        <p:cNvGrpSpPr/>
        <p:nvPr/>
      </p:nvGrpSpPr>
      <p:grpSpPr>
        <a:xfrm>
          <a:off x="0" y="0"/>
          <a:ext cx="0" cy="0"/>
          <a:chOff x="0" y="0"/>
          <a:chExt cx="0" cy="0"/>
        </a:xfrm>
      </p:grpSpPr>
      <p:sp>
        <p:nvSpPr>
          <p:cNvPr id="92" name="Google Shape;92;p16"/>
          <p:cNvSpPr txBox="1"/>
          <p:nvPr>
            <p:ph idx="1" type="body"/>
          </p:nvPr>
        </p:nvSpPr>
        <p:spPr>
          <a:xfrm>
            <a:off x="911259" y="3558795"/>
            <a:ext cx="7575020" cy="238867"/>
          </a:xfrm>
          <a:prstGeom prst="rect">
            <a:avLst/>
          </a:prstGeom>
          <a:noFill/>
          <a:ln>
            <a:noFill/>
          </a:ln>
        </p:spPr>
        <p:txBody>
          <a:bodyPr anchorCtr="0" anchor="t" bIns="0" lIns="0" spcFirstLastPara="1" rIns="0" wrap="square" tIns="0">
            <a:normAutofit/>
          </a:bodyPr>
          <a:lstStyle>
            <a:lvl1pPr indent="-228600" lvl="0" marL="457200">
              <a:lnSpc>
                <a:spcPct val="100000"/>
              </a:lnSpc>
              <a:spcBef>
                <a:spcPts val="1200"/>
              </a:spcBef>
              <a:spcAft>
                <a:spcPts val="0"/>
              </a:spcAft>
              <a:buSzPts val="1150"/>
              <a:buNone/>
              <a:defRPr sz="1150"/>
            </a:lvl1pPr>
            <a:lvl2pPr indent="-301625" lvl="1" marL="914400">
              <a:lnSpc>
                <a:spcPct val="100000"/>
              </a:lnSpc>
              <a:spcBef>
                <a:spcPts val="1200"/>
              </a:spcBef>
              <a:spcAft>
                <a:spcPts val="0"/>
              </a:spcAft>
              <a:buSzPts val="1150"/>
              <a:buChar char="•"/>
              <a:defRPr sz="1150"/>
            </a:lvl2pPr>
            <a:lvl3pPr indent="-301625" lvl="2" marL="1371600">
              <a:lnSpc>
                <a:spcPct val="100000"/>
              </a:lnSpc>
              <a:spcBef>
                <a:spcPts val="1200"/>
              </a:spcBef>
              <a:spcAft>
                <a:spcPts val="0"/>
              </a:spcAft>
              <a:buSzPts val="1150"/>
              <a:buChar char="•"/>
              <a:defRPr sz="1150"/>
            </a:lvl3pPr>
            <a:lvl4pPr indent="-301625" lvl="3" marL="1828800">
              <a:lnSpc>
                <a:spcPct val="100000"/>
              </a:lnSpc>
              <a:spcBef>
                <a:spcPts val="1200"/>
              </a:spcBef>
              <a:spcAft>
                <a:spcPts val="0"/>
              </a:spcAft>
              <a:buSzPts val="1150"/>
              <a:buChar char="•"/>
              <a:defRPr sz="1150"/>
            </a:lvl4pPr>
            <a:lvl5pPr indent="-301625" lvl="4" marL="2286000">
              <a:lnSpc>
                <a:spcPct val="100000"/>
              </a:lnSpc>
              <a:spcBef>
                <a:spcPts val="1200"/>
              </a:spcBef>
              <a:spcAft>
                <a:spcPts val="0"/>
              </a:spcAft>
              <a:buSzPts val="1150"/>
              <a:buChar char="•"/>
              <a:defRPr sz="1150"/>
            </a:lvl5pPr>
            <a:lvl6pPr indent="-301625" lvl="5" marL="2743200">
              <a:lnSpc>
                <a:spcPct val="100000"/>
              </a:lnSpc>
              <a:spcBef>
                <a:spcPts val="1200"/>
              </a:spcBef>
              <a:spcAft>
                <a:spcPts val="0"/>
              </a:spcAft>
              <a:buSzPts val="1150"/>
              <a:buChar char="•"/>
              <a:defRPr sz="1150"/>
            </a:lvl6pPr>
            <a:lvl7pPr indent="-301625" lvl="6" marL="3200400">
              <a:lnSpc>
                <a:spcPct val="100000"/>
              </a:lnSpc>
              <a:spcBef>
                <a:spcPts val="1200"/>
              </a:spcBef>
              <a:spcAft>
                <a:spcPts val="0"/>
              </a:spcAft>
              <a:buSzPts val="1150"/>
              <a:buChar char="•"/>
              <a:defRPr sz="1150"/>
            </a:lvl7pPr>
            <a:lvl8pPr indent="-301625" lvl="7" marL="3657600">
              <a:lnSpc>
                <a:spcPct val="100000"/>
              </a:lnSpc>
              <a:spcBef>
                <a:spcPts val="1200"/>
              </a:spcBef>
              <a:spcAft>
                <a:spcPts val="0"/>
              </a:spcAft>
              <a:buSzPts val="1150"/>
              <a:buChar char="•"/>
              <a:defRPr sz="1150"/>
            </a:lvl8pPr>
            <a:lvl9pPr indent="-301625" lvl="8" marL="4114800">
              <a:lnSpc>
                <a:spcPct val="100000"/>
              </a:lnSpc>
              <a:spcBef>
                <a:spcPts val="1200"/>
              </a:spcBef>
              <a:spcAft>
                <a:spcPts val="0"/>
              </a:spcAft>
              <a:buSzPts val="1150"/>
              <a:buChar char="•"/>
              <a:defRPr sz="1150"/>
            </a:lvl9pPr>
          </a:lstStyle>
          <a:p/>
        </p:txBody>
      </p:sp>
      <p:sp>
        <p:nvSpPr>
          <p:cNvPr id="93" name="Google Shape;93;p16"/>
          <p:cNvSpPr txBox="1"/>
          <p:nvPr>
            <p:ph idx="2" type="body"/>
          </p:nvPr>
        </p:nvSpPr>
        <p:spPr>
          <a:xfrm>
            <a:off x="657721" y="1057275"/>
            <a:ext cx="7828558" cy="2233778"/>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1200"/>
              </a:spcBef>
              <a:spcAft>
                <a:spcPts val="0"/>
              </a:spcAft>
              <a:buClr>
                <a:srgbClr val="182B49"/>
              </a:buClr>
              <a:buSzPts val="3200"/>
              <a:buFont typeface="Teko SemiBold"/>
              <a:buNone/>
              <a:defRPr i="0" sz="3200">
                <a:solidFill>
                  <a:srgbClr val="182B49"/>
                </a:solidFill>
                <a:latin typeface="Teko SemiBold"/>
                <a:ea typeface="Teko SemiBold"/>
                <a:cs typeface="Teko SemiBold"/>
                <a:sym typeface="Teko SemiBold"/>
              </a:defRPr>
            </a:lvl1pPr>
            <a:lvl2pPr indent="-431800" lvl="1" marL="914400" algn="l">
              <a:lnSpc>
                <a:spcPct val="100000"/>
              </a:lnSpc>
              <a:spcBef>
                <a:spcPts val="1200"/>
              </a:spcBef>
              <a:spcAft>
                <a:spcPts val="0"/>
              </a:spcAft>
              <a:buClr>
                <a:srgbClr val="182B49"/>
              </a:buClr>
              <a:buSzPts val="3200"/>
              <a:buFont typeface="Teko SemiBold"/>
              <a:buChar char="•"/>
              <a:defRPr sz="3200">
                <a:solidFill>
                  <a:srgbClr val="182B49"/>
                </a:solidFill>
                <a:latin typeface="Teko SemiBold"/>
                <a:ea typeface="Teko SemiBold"/>
                <a:cs typeface="Teko SemiBold"/>
                <a:sym typeface="Teko SemiBold"/>
              </a:defRPr>
            </a:lvl2pPr>
            <a:lvl3pPr indent="-431800" lvl="2" marL="1371600" algn="l">
              <a:lnSpc>
                <a:spcPct val="100000"/>
              </a:lnSpc>
              <a:spcBef>
                <a:spcPts val="1200"/>
              </a:spcBef>
              <a:spcAft>
                <a:spcPts val="0"/>
              </a:spcAft>
              <a:buClr>
                <a:srgbClr val="182B49"/>
              </a:buClr>
              <a:buSzPts val="3200"/>
              <a:buFont typeface="Teko SemiBold"/>
              <a:buChar char="•"/>
              <a:defRPr sz="3200">
                <a:solidFill>
                  <a:srgbClr val="182B49"/>
                </a:solidFill>
                <a:latin typeface="Teko SemiBold"/>
                <a:ea typeface="Teko SemiBold"/>
                <a:cs typeface="Teko SemiBold"/>
                <a:sym typeface="Teko SemiBold"/>
              </a:defRPr>
            </a:lvl3pPr>
            <a:lvl4pPr indent="-431800" lvl="3" marL="1828800" algn="l">
              <a:lnSpc>
                <a:spcPct val="100000"/>
              </a:lnSpc>
              <a:spcBef>
                <a:spcPts val="1200"/>
              </a:spcBef>
              <a:spcAft>
                <a:spcPts val="0"/>
              </a:spcAft>
              <a:buClr>
                <a:srgbClr val="182B49"/>
              </a:buClr>
              <a:buSzPts val="3200"/>
              <a:buFont typeface="Teko SemiBold"/>
              <a:buChar char="•"/>
              <a:defRPr sz="3200">
                <a:solidFill>
                  <a:srgbClr val="182B49"/>
                </a:solidFill>
                <a:latin typeface="Teko SemiBold"/>
                <a:ea typeface="Teko SemiBold"/>
                <a:cs typeface="Teko SemiBold"/>
                <a:sym typeface="Teko SemiBold"/>
              </a:defRPr>
            </a:lvl4pPr>
            <a:lvl5pPr indent="-228600" lvl="4" marL="2286000" algn="l">
              <a:lnSpc>
                <a:spcPct val="100000"/>
              </a:lnSpc>
              <a:spcBef>
                <a:spcPts val="1200"/>
              </a:spcBef>
              <a:spcAft>
                <a:spcPts val="0"/>
              </a:spcAft>
              <a:buClr>
                <a:srgbClr val="182B49"/>
              </a:buClr>
              <a:buSzPts val="3200"/>
              <a:buFont typeface="Teko SemiBold"/>
              <a:buNone/>
              <a:defRPr sz="3200">
                <a:solidFill>
                  <a:srgbClr val="182B49"/>
                </a:solidFill>
                <a:latin typeface="Teko SemiBold"/>
                <a:ea typeface="Teko SemiBold"/>
                <a:cs typeface="Teko SemiBold"/>
                <a:sym typeface="Teko SemiBold"/>
              </a:defRPr>
            </a:lvl5pPr>
            <a:lvl6pPr indent="-431800" lvl="5" marL="27432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6pPr>
            <a:lvl7pPr indent="-431800" lvl="6" marL="32004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7pPr>
            <a:lvl8pPr indent="-431800" lvl="7" marL="36576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8pPr>
            <a:lvl9pPr indent="-431800" lvl="8" marL="41148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9pPr>
          </a:lstStyle>
          <a:p/>
        </p:txBody>
      </p:sp>
      <p:sp>
        <p:nvSpPr>
          <p:cNvPr id="94" name="Google Shape;94;p16"/>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95" name="Shape 95"/>
        <p:cNvGrpSpPr/>
        <p:nvPr/>
      </p:nvGrpSpPr>
      <p:grpSpPr>
        <a:xfrm>
          <a:off x="0" y="0"/>
          <a:ext cx="0" cy="0"/>
          <a:chOff x="0" y="0"/>
          <a:chExt cx="0" cy="0"/>
        </a:xfrm>
      </p:grpSpPr>
      <p:sp>
        <p:nvSpPr>
          <p:cNvPr id="96" name="Google Shape;96;p17"/>
          <p:cNvSpPr/>
          <p:nvPr>
            <p:ph idx="2" type="pic"/>
          </p:nvPr>
        </p:nvSpPr>
        <p:spPr>
          <a:xfrm>
            <a:off x="5910262" y="2647500"/>
            <a:ext cx="2776538" cy="2019774"/>
          </a:xfrm>
          <a:prstGeom prst="roundRect">
            <a:avLst>
              <a:gd fmla="val 4810" name="adj"/>
            </a:avLst>
          </a:prstGeom>
          <a:noFill/>
          <a:ln>
            <a:noFill/>
          </a:ln>
        </p:spPr>
      </p:sp>
      <p:sp>
        <p:nvSpPr>
          <p:cNvPr id="97" name="Google Shape;97;p17"/>
          <p:cNvSpPr/>
          <p:nvPr>
            <p:ph idx="3" type="pic"/>
          </p:nvPr>
        </p:nvSpPr>
        <p:spPr>
          <a:xfrm>
            <a:off x="5910262" y="452296"/>
            <a:ext cx="2776538" cy="2019774"/>
          </a:xfrm>
          <a:prstGeom prst="roundRect">
            <a:avLst>
              <a:gd fmla="val 4810" name="adj"/>
            </a:avLst>
          </a:prstGeom>
          <a:noFill/>
          <a:ln>
            <a:noFill/>
          </a:ln>
        </p:spPr>
      </p:sp>
      <p:sp>
        <p:nvSpPr>
          <p:cNvPr id="98" name="Google Shape;98;p17"/>
          <p:cNvSpPr/>
          <p:nvPr>
            <p:ph idx="4" type="pic"/>
          </p:nvPr>
        </p:nvSpPr>
        <p:spPr>
          <a:xfrm>
            <a:off x="457200" y="452628"/>
            <a:ext cx="5291100" cy="4214700"/>
          </a:xfrm>
          <a:prstGeom prst="roundRect">
            <a:avLst>
              <a:gd fmla="val 2254" name="adj"/>
            </a:avLst>
          </a:prstGeom>
          <a:noFill/>
          <a:ln>
            <a:noFill/>
          </a:ln>
        </p:spPr>
      </p:sp>
      <p:sp>
        <p:nvSpPr>
          <p:cNvPr id="99" name="Google Shape;99;p17"/>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00" name="Shape 100"/>
        <p:cNvGrpSpPr/>
        <p:nvPr/>
      </p:nvGrpSpPr>
      <p:grpSpPr>
        <a:xfrm>
          <a:off x="0" y="0"/>
          <a:ext cx="0" cy="0"/>
          <a:chOff x="0" y="0"/>
          <a:chExt cx="0" cy="0"/>
        </a:xfrm>
      </p:grpSpPr>
      <p:sp>
        <p:nvSpPr>
          <p:cNvPr id="101" name="Google Shape;101;p18"/>
          <p:cNvSpPr/>
          <p:nvPr>
            <p:ph idx="2" type="pic"/>
          </p:nvPr>
        </p:nvSpPr>
        <p:spPr>
          <a:xfrm>
            <a:off x="0" y="0"/>
            <a:ext cx="9144000" cy="5143500"/>
          </a:xfrm>
          <a:prstGeom prst="rect">
            <a:avLst/>
          </a:prstGeom>
          <a:noFill/>
          <a:ln>
            <a:noFill/>
          </a:ln>
        </p:spPr>
      </p:sp>
      <p:sp>
        <p:nvSpPr>
          <p:cNvPr id="102" name="Google Shape;102;p18"/>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ame Only">
  <p:cSld name="Frame Only">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11" Type="http://schemas.openxmlformats.org/officeDocument/2006/relationships/slideLayout" Target="../slideLayouts/slideLayout9.xml"/><Relationship Id="rId10" Type="http://schemas.openxmlformats.org/officeDocument/2006/relationships/slideLayout" Target="../slideLayouts/slideLayout8.xml"/><Relationship Id="rId21" Type="http://schemas.openxmlformats.org/officeDocument/2006/relationships/theme" Target="../theme/theme2.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8763" cy="5148263"/>
          </a:xfrm>
          <a:prstGeom prst="rect">
            <a:avLst/>
          </a:prstGeom>
          <a:noFill/>
          <a:ln>
            <a:noFill/>
          </a:ln>
        </p:spPr>
      </p:pic>
      <p:pic>
        <p:nvPicPr>
          <p:cNvPr id="7" name="Google Shape;7;p1"/>
          <p:cNvPicPr preferRelativeResize="0"/>
          <p:nvPr/>
        </p:nvPicPr>
        <p:blipFill rotWithShape="1">
          <a:blip r:embed="rId2">
            <a:alphaModFix/>
          </a:blip>
          <a:srcRect b="0" l="0" r="0" t="0"/>
          <a:stretch/>
        </p:blipFill>
        <p:spPr>
          <a:xfrm>
            <a:off x="7538833" y="240172"/>
            <a:ext cx="1377803" cy="258338"/>
          </a:xfrm>
          <a:prstGeom prst="rect">
            <a:avLst/>
          </a:prstGeom>
          <a:noFill/>
          <a:ln>
            <a:noFill/>
          </a:ln>
        </p:spPr>
      </p:pic>
      <p:sp>
        <p:nvSpPr>
          <p:cNvPr id="8" name="Google Shape;8;p1"/>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1pPr>
            <a:lvl2pPr indent="0" lvl="1"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2pPr>
            <a:lvl3pPr indent="0" lvl="2"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3pPr>
            <a:lvl4pPr indent="0" lvl="3"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4pPr>
            <a:lvl5pPr indent="0" lvl="4"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5pPr>
            <a:lvl6pPr indent="0" lvl="5"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6pPr>
            <a:lvl7pPr indent="0" lvl="6"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7pPr>
            <a:lvl8pPr indent="0" lvl="7"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8pPr>
            <a:lvl9pPr indent="0" lvl="8"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9pPr>
          </a:lstStyle>
          <a:p>
            <a:pPr indent="0" lvl="0" marL="0" rtl="0" algn="l">
              <a:spcBef>
                <a:spcPts val="0"/>
              </a:spcBef>
              <a:spcAft>
                <a:spcPts val="0"/>
              </a:spcAft>
              <a:buNone/>
            </a:pPr>
            <a:fld id="{00000000-1234-1234-1234-123412341234}" type="slidenum">
              <a:rPr lang="en-US"/>
              <a:t>‹#›</a:t>
            </a:fld>
            <a:endParaRPr/>
          </a:p>
        </p:txBody>
      </p:sp>
      <p:sp>
        <p:nvSpPr>
          <p:cNvPr id="9" name="Google Shape;9;p1"/>
          <p:cNvSpPr txBox="1"/>
          <p:nvPr>
            <p:ph idx="1" type="body"/>
          </p:nvPr>
        </p:nvSpPr>
        <p:spPr>
          <a:xfrm>
            <a:off x="457200" y="1300163"/>
            <a:ext cx="8229600" cy="3128962"/>
          </a:xfrm>
          <a:prstGeom prst="rect">
            <a:avLst/>
          </a:prstGeom>
          <a:noFill/>
          <a:ln>
            <a:noFill/>
          </a:ln>
        </p:spPr>
        <p:txBody>
          <a:bodyPr anchorCtr="0" anchor="t" bIns="0" lIns="0" spcFirstLastPara="1" rIns="0" wrap="square" tIns="0">
            <a:normAutofit/>
          </a:bodyPr>
          <a:lstStyle>
            <a:lvl1pPr indent="-330200" lvl="0" marL="4572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1pPr>
            <a:lvl2pPr indent="-330200" lvl="1" marL="9144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2pPr>
            <a:lvl3pPr indent="-330200" lvl="2" marL="13716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3pPr>
            <a:lvl4pPr indent="-330200" lvl="3" marL="18288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4pPr>
            <a:lvl5pPr indent="-330200" lvl="4" marL="22860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5pPr>
            <a:lvl6pPr indent="-330200" lvl="5" marL="27432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6pPr>
            <a:lvl7pPr indent="-330200" lvl="6" marL="32004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7pPr>
            <a:lvl8pPr indent="-330200" lvl="7" marL="36576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8pPr>
            <a:lvl9pPr indent="-330200" lvl="8" marL="41148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9pPr>
          </a:lstStyle>
          <a:p/>
        </p:txBody>
      </p:sp>
      <p:sp>
        <p:nvSpPr>
          <p:cNvPr id="10" name="Google Shape;10;p1"/>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marR="0" rtl="0" algn="l">
              <a:lnSpc>
                <a:spcPct val="80000"/>
              </a:lnSpc>
              <a:spcBef>
                <a:spcPts val="0"/>
              </a:spcBef>
              <a:spcAft>
                <a:spcPts val="0"/>
              </a:spcAft>
              <a:buClr>
                <a:schemeClr val="dk1"/>
              </a:buClr>
              <a:buSzPts val="3400"/>
              <a:buFont typeface="Teko SemiBold"/>
              <a:buNone/>
              <a:defRPr i="0" sz="3400" u="none" cap="none" strike="noStrike">
                <a:solidFill>
                  <a:schemeClr val="dk1"/>
                </a:solidFill>
                <a:latin typeface="Teko SemiBold"/>
                <a:ea typeface="Teko SemiBold"/>
                <a:cs typeface="Teko SemiBold"/>
                <a:sym typeface="Teko SemiBold"/>
              </a:defRPr>
            </a:lvl1pPr>
            <a:lvl2pPr lvl="1"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2pPr>
            <a:lvl3pPr lvl="2"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3pPr>
            <a:lvl4pPr lvl="3"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4pPr>
            <a:lvl5pPr lvl="4"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5pPr>
            <a:lvl6pPr lvl="5"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6pPr>
            <a:lvl7pPr lvl="6"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7pPr>
            <a:lvl8pPr lvl="7"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8pPr>
            <a:lvl9pPr lvl="8"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9pPr>
          </a:lstStyle>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guide id="3" orient="horz" pos="819">
          <p15:clr>
            <a:srgbClr val="F26B43"/>
          </p15:clr>
        </p15:guide>
        <p15:guide id="4" orient="horz" pos="2790">
          <p15:clr>
            <a:srgbClr val="F26B43"/>
          </p15:clr>
        </p15:guide>
        <p15:guide id="5" orient="horz" pos="252">
          <p15:clr>
            <a:srgbClr val="F26B43"/>
          </p15:clr>
        </p15:guide>
        <p15:guide id="6" orient="horz" pos="666">
          <p15:clr>
            <a:srgbClr val="F26B43"/>
          </p15:clr>
        </p15:guide>
        <p15:guide id="7" pos="288">
          <p15:clr>
            <a:srgbClr val="F26B43"/>
          </p15:clr>
        </p15:guide>
        <p15:guide id="8" pos="5472">
          <p15:clr>
            <a:srgbClr val="F26B43"/>
          </p15:clr>
        </p15:guide>
        <p15:guide id="9" pos="25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9.jp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drive.google.com/file/d/1MAi7jnLq-3NzNMwfRiPaLi41HmGLxmfu/view" TargetMode="External"/><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0"/>
          <p:cNvPicPr preferRelativeResize="0"/>
          <p:nvPr>
            <p:ph idx="2" type="pic"/>
          </p:nvPr>
        </p:nvPicPr>
        <p:blipFill rotWithShape="1">
          <a:blip r:embed="rId3">
            <a:alphaModFix/>
          </a:blip>
          <a:srcRect b="0" l="0" r="0" t="10"/>
          <a:stretch/>
        </p:blipFill>
        <p:spPr>
          <a:xfrm>
            <a:off x="6819843" y="286172"/>
            <a:ext cx="2009699" cy="382200"/>
          </a:xfrm>
          <a:prstGeom prst="rect">
            <a:avLst/>
          </a:prstGeom>
        </p:spPr>
      </p:pic>
      <p:sp>
        <p:nvSpPr>
          <p:cNvPr id="110" name="Google Shape;110;p20"/>
          <p:cNvSpPr txBox="1"/>
          <p:nvPr>
            <p:ph type="title"/>
          </p:nvPr>
        </p:nvSpPr>
        <p:spPr>
          <a:xfrm>
            <a:off x="457200" y="1057275"/>
            <a:ext cx="8229600" cy="17118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US">
                <a:solidFill>
                  <a:schemeClr val="dk2"/>
                </a:solidFill>
              </a:rPr>
              <a:t>Coral Gardeners</a:t>
            </a:r>
            <a:r>
              <a:rPr lang="en-US"/>
              <a:t>  Final Presentation</a:t>
            </a:r>
            <a:endParaRPr/>
          </a:p>
        </p:txBody>
      </p:sp>
      <p:sp>
        <p:nvSpPr>
          <p:cNvPr id="111" name="Google Shape;111;p20"/>
          <p:cNvSpPr txBox="1"/>
          <p:nvPr>
            <p:ph idx="3" type="subTitle"/>
          </p:nvPr>
        </p:nvSpPr>
        <p:spPr>
          <a:xfrm>
            <a:off x="457200" y="3157975"/>
            <a:ext cx="8229600" cy="257100"/>
          </a:xfrm>
          <a:prstGeom prst="rect">
            <a:avLst/>
          </a:prstGeom>
        </p:spPr>
        <p:txBody>
          <a:bodyPr anchorCtr="0" anchor="t" bIns="0" lIns="18275" spcFirstLastPara="1" rIns="0" wrap="square" tIns="0">
            <a:normAutofit/>
          </a:bodyPr>
          <a:lstStyle/>
          <a:p>
            <a:pPr indent="0" lvl="0" marL="0" rtl="0" algn="l">
              <a:spcBef>
                <a:spcPts val="1200"/>
              </a:spcBef>
              <a:spcAft>
                <a:spcPts val="0"/>
              </a:spcAft>
              <a:buNone/>
            </a:pPr>
            <a:r>
              <a:rPr lang="en-US"/>
              <a:t>CSE 237D| </a:t>
            </a:r>
            <a:r>
              <a:rPr lang="en-US"/>
              <a:t>Marlyn Arque Rupa, Aleksa Popovic, Ewan Shen, </a:t>
            </a:r>
            <a:r>
              <a:rPr lang="en-US"/>
              <a:t>Vibusha Vadivel, Kaleigh Edusada</a:t>
            </a:r>
            <a:endParaRPr/>
          </a:p>
        </p:txBody>
      </p:sp>
      <p:pic>
        <p:nvPicPr>
          <p:cNvPr id="112" name="Google Shape;112;p20" title="image (2).png"/>
          <p:cNvPicPr preferRelativeResize="0"/>
          <p:nvPr/>
        </p:nvPicPr>
        <p:blipFill>
          <a:blip r:embed="rId4">
            <a:alphaModFix/>
          </a:blip>
          <a:stretch>
            <a:fillRect/>
          </a:stretch>
        </p:blipFill>
        <p:spPr>
          <a:xfrm>
            <a:off x="381825" y="1811238"/>
            <a:ext cx="3732977" cy="10881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457200" y="402336"/>
            <a:ext cx="3657600" cy="653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Overview</a:t>
            </a:r>
            <a:endParaRPr/>
          </a:p>
        </p:txBody>
      </p:sp>
      <p:sp>
        <p:nvSpPr>
          <p:cNvPr id="118" name="Google Shape;118;p21"/>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19" name="Google Shape;119;p21"/>
          <p:cNvSpPr txBox="1"/>
          <p:nvPr/>
        </p:nvSpPr>
        <p:spPr>
          <a:xfrm>
            <a:off x="457075" y="1053925"/>
            <a:ext cx="8113800" cy="3375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Source Sans 3"/>
              <a:buChar char="●"/>
            </a:pPr>
            <a:r>
              <a:rPr b="1" lang="en-US" sz="1800">
                <a:highlight>
                  <a:srgbClr val="FFFFFF"/>
                </a:highlight>
                <a:latin typeface="Source Sans 3"/>
                <a:ea typeface="Source Sans 3"/>
                <a:cs typeface="Source Sans 3"/>
                <a:sym typeface="Source Sans 3"/>
              </a:rPr>
              <a:t>Motivation:</a:t>
            </a:r>
            <a:r>
              <a:rPr lang="en-US" sz="1800">
                <a:highlight>
                  <a:srgbClr val="FFFFFF"/>
                </a:highlight>
                <a:latin typeface="Source Sans 3"/>
                <a:ea typeface="Source Sans 3"/>
                <a:cs typeface="Source Sans 3"/>
                <a:sym typeface="Source Sans 3"/>
              </a:rPr>
              <a:t> Fish biodiversity </a:t>
            </a:r>
            <a:r>
              <a:rPr lang="en-US" sz="1800">
                <a:highlight>
                  <a:srgbClr val="FFFFFF"/>
                </a:highlight>
                <a:latin typeface="Source Sans 3"/>
                <a:ea typeface="Source Sans 3"/>
                <a:cs typeface="Source Sans 3"/>
                <a:sym typeface="Source Sans 3"/>
              </a:rPr>
              <a:t>is an indicator of c</a:t>
            </a:r>
            <a:r>
              <a:rPr lang="en-US" sz="1800">
                <a:highlight>
                  <a:srgbClr val="FFFFFF"/>
                </a:highlight>
                <a:latin typeface="Source Sans 3"/>
                <a:ea typeface="Source Sans 3"/>
                <a:cs typeface="Source Sans 3"/>
                <a:sym typeface="Source Sans 3"/>
              </a:rPr>
              <a:t>oral health </a:t>
            </a:r>
            <a:endParaRPr sz="1800">
              <a:highlight>
                <a:srgbClr val="FFFFFF"/>
              </a:highlight>
              <a:latin typeface="Source Sans 3"/>
              <a:ea typeface="Source Sans 3"/>
              <a:cs typeface="Source Sans 3"/>
              <a:sym typeface="Source Sans 3"/>
            </a:endParaRPr>
          </a:p>
          <a:p>
            <a:pPr indent="0" lvl="0" marL="457200" rtl="0" algn="l">
              <a:spcBef>
                <a:spcPts val="0"/>
              </a:spcBef>
              <a:spcAft>
                <a:spcPts val="0"/>
              </a:spcAft>
              <a:buNone/>
            </a:pPr>
            <a:r>
              <a:t/>
            </a:r>
            <a:endParaRPr sz="12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b="1" lang="en-US" sz="1800">
                <a:highlight>
                  <a:srgbClr val="FFFFFF"/>
                </a:highlight>
                <a:latin typeface="Source Sans 3"/>
                <a:ea typeface="Source Sans 3"/>
                <a:cs typeface="Source Sans 3"/>
                <a:sym typeface="Source Sans 3"/>
              </a:rPr>
              <a:t>Problem:</a:t>
            </a:r>
            <a:r>
              <a:rPr lang="en-US" sz="1800">
                <a:highlight>
                  <a:srgbClr val="FFFFFF"/>
                </a:highlight>
                <a:latin typeface="Source Sans 3"/>
                <a:ea typeface="Source Sans 3"/>
                <a:cs typeface="Source Sans 3"/>
                <a:sym typeface="Source Sans 3"/>
              </a:rPr>
              <a:t> Expert manual analysis of research images is costly, slow</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b="1" lang="en-US" sz="1800">
                <a:highlight>
                  <a:srgbClr val="FFFFFF"/>
                </a:highlight>
                <a:latin typeface="Source Sans 3"/>
                <a:ea typeface="Source Sans 3"/>
                <a:cs typeface="Source Sans 3"/>
                <a:sym typeface="Source Sans 3"/>
              </a:rPr>
              <a:t>Solution: </a:t>
            </a:r>
            <a:r>
              <a:rPr lang="en-US" sz="1800">
                <a:highlight>
                  <a:srgbClr val="FFFFFF"/>
                </a:highlight>
                <a:latin typeface="Source Sans 3"/>
                <a:ea typeface="Source Sans 3"/>
                <a:cs typeface="Source Sans 3"/>
                <a:sym typeface="Source Sans 3"/>
              </a:rPr>
              <a:t>Detection </a:t>
            </a:r>
            <a:r>
              <a:rPr lang="en-US" sz="1800">
                <a:highlight>
                  <a:srgbClr val="FFFFFF"/>
                </a:highlight>
                <a:latin typeface="Source Sans 3"/>
                <a:ea typeface="Source Sans 3"/>
                <a:cs typeface="Source Sans 3"/>
                <a:sym typeface="Source Sans 3"/>
              </a:rPr>
              <a:t>and</a:t>
            </a:r>
            <a:r>
              <a:rPr lang="en-US" sz="1800">
                <a:highlight>
                  <a:srgbClr val="FFFFFF"/>
                </a:highlight>
                <a:latin typeface="Source Sans 3"/>
                <a:ea typeface="Source Sans 3"/>
                <a:cs typeface="Source Sans 3"/>
                <a:sym typeface="Source Sans 3"/>
              </a:rPr>
              <a:t> classification of fish species with computer vision to </a:t>
            </a:r>
            <a:r>
              <a:rPr lang="en-US" sz="1800">
                <a:highlight>
                  <a:srgbClr val="FFFFFF"/>
                </a:highlight>
                <a:latin typeface="Source Sans 3"/>
                <a:ea typeface="Source Sans 3"/>
                <a:cs typeface="Source Sans 3"/>
                <a:sym typeface="Source Sans 3"/>
              </a:rPr>
              <a:t>expedite</a:t>
            </a:r>
            <a:r>
              <a:rPr lang="en-US" sz="1800">
                <a:highlight>
                  <a:srgbClr val="FFFFFF"/>
                </a:highlight>
                <a:latin typeface="Source Sans 3"/>
                <a:ea typeface="Source Sans 3"/>
                <a:cs typeface="Source Sans 3"/>
                <a:sym typeface="Source Sans 3"/>
              </a:rPr>
              <a:t> and scale image analysis</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b="1" lang="en-US" sz="1800">
                <a:highlight>
                  <a:srgbClr val="FFFFFF"/>
                </a:highlight>
                <a:latin typeface="Source Sans 3"/>
                <a:ea typeface="Source Sans 3"/>
                <a:cs typeface="Source Sans 3"/>
                <a:sym typeface="Source Sans 3"/>
              </a:rPr>
              <a:t>Key Problems:</a:t>
            </a:r>
            <a:endParaRPr b="1"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Domain Shift</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Lack of properly labeled datasets</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pic>
        <p:nvPicPr>
          <p:cNvPr id="120" name="Google Shape;120;p21"/>
          <p:cNvPicPr preferRelativeResize="0"/>
          <p:nvPr/>
        </p:nvPicPr>
        <p:blipFill>
          <a:blip r:embed="rId3">
            <a:alphaModFix/>
          </a:blip>
          <a:stretch>
            <a:fillRect/>
          </a:stretch>
        </p:blipFill>
        <p:spPr>
          <a:xfrm>
            <a:off x="4974850" y="2653508"/>
            <a:ext cx="3921075" cy="22010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2"/>
          <p:cNvPicPr preferRelativeResize="0"/>
          <p:nvPr/>
        </p:nvPicPr>
        <p:blipFill rotWithShape="1">
          <a:blip r:embed="rId3">
            <a:alphaModFix/>
          </a:blip>
          <a:srcRect b="2191" l="0" r="0" t="0"/>
          <a:stretch/>
        </p:blipFill>
        <p:spPr>
          <a:xfrm>
            <a:off x="236111" y="1404309"/>
            <a:ext cx="8768101" cy="2248175"/>
          </a:xfrm>
          <a:prstGeom prst="rect">
            <a:avLst/>
          </a:prstGeom>
          <a:noFill/>
          <a:ln>
            <a:noFill/>
          </a:ln>
        </p:spPr>
      </p:pic>
      <p:sp>
        <p:nvSpPr>
          <p:cNvPr id="126" name="Google Shape;126;p22"/>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Approach</a:t>
            </a:r>
            <a:endParaRPr/>
          </a:p>
        </p:txBody>
      </p:sp>
      <p:sp>
        <p:nvSpPr>
          <p:cNvPr id="127" name="Google Shape;127;p22"/>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28" name="Google Shape;128;p22"/>
          <p:cNvSpPr txBox="1"/>
          <p:nvPr/>
        </p:nvSpPr>
        <p:spPr>
          <a:xfrm>
            <a:off x="299000" y="858268"/>
            <a:ext cx="8768100" cy="1040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Pipeli</a:t>
            </a:r>
            <a:r>
              <a:rPr lang="en-US" sz="1800">
                <a:highlight>
                  <a:srgbClr val="FFFFFF"/>
                </a:highlight>
                <a:latin typeface="Source Sans 3"/>
                <a:ea typeface="Source Sans 3"/>
                <a:cs typeface="Source Sans 3"/>
                <a:sym typeface="Source Sans 3"/>
              </a:rPr>
              <a:t>ne:</a:t>
            </a:r>
            <a:endParaRPr sz="1800">
              <a:highlight>
                <a:srgbClr val="FFFFFF"/>
              </a:highlight>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0" lvl="0" marL="914400" rtl="0" algn="l">
              <a:spcBef>
                <a:spcPts val="0"/>
              </a:spcBef>
              <a:spcAft>
                <a:spcPts val="0"/>
              </a:spcAft>
              <a:buNone/>
            </a:pPr>
            <a:r>
              <a:t/>
            </a:r>
            <a:endParaRPr sz="1800">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Deliverables:</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Python package</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Evaluation results and documentation</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latin typeface="Source Sans 3"/>
              <a:ea typeface="Source Sans 3"/>
              <a:cs typeface="Source Sans 3"/>
              <a:sym typeface="Source Sans 3"/>
            </a:endParaRPr>
          </a:p>
          <a:p>
            <a:pPr indent="0" lvl="0" marL="0" rtl="0" algn="l">
              <a:spcBef>
                <a:spcPts val="0"/>
              </a:spcBef>
              <a:spcAft>
                <a:spcPts val="0"/>
              </a:spcAft>
              <a:buNone/>
            </a:pPr>
            <a:r>
              <a:t/>
            </a:r>
            <a:endParaRPr sz="1800">
              <a:latin typeface="Source Sans 3"/>
              <a:ea typeface="Source Sans 3"/>
              <a:cs typeface="Source Sans 3"/>
              <a:sym typeface="Source Sans 3"/>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Development</a:t>
            </a:r>
            <a:endParaRPr/>
          </a:p>
        </p:txBody>
      </p:sp>
      <p:sp>
        <p:nvSpPr>
          <p:cNvPr id="134" name="Google Shape;134;p23"/>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35" name="Google Shape;135;p23"/>
          <p:cNvSpPr txBox="1"/>
          <p:nvPr>
            <p:ph idx="1" type="body"/>
          </p:nvPr>
        </p:nvSpPr>
        <p:spPr>
          <a:xfrm>
            <a:off x="486600" y="1105200"/>
            <a:ext cx="8170800" cy="31290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US" sz="1800"/>
              <a:t>Project Experimentation</a:t>
            </a:r>
            <a:r>
              <a:rPr lang="en-US" sz="1800"/>
              <a:t>:</a:t>
            </a:r>
            <a:endParaRPr sz="1800"/>
          </a:p>
          <a:p>
            <a:pPr indent="-342900" lvl="0" marL="457200" rtl="0" algn="l">
              <a:spcBef>
                <a:spcPts val="1200"/>
              </a:spcBef>
              <a:spcAft>
                <a:spcPts val="0"/>
              </a:spcAft>
              <a:buSzPts val="1800"/>
              <a:buChar char="•"/>
            </a:pPr>
            <a:r>
              <a:rPr lang="en-US" sz="1800"/>
              <a:t>Custom-trained YOLO v8, v11 and v12 models (&lt;10% </a:t>
            </a:r>
            <a:r>
              <a:rPr lang="en-US" sz="1800"/>
              <a:t>accuracy</a:t>
            </a:r>
            <a:r>
              <a:rPr lang="en-US" sz="1800"/>
              <a:t>)</a:t>
            </a:r>
            <a:endParaRPr sz="1800"/>
          </a:p>
          <a:p>
            <a:pPr indent="-342900" lvl="1" marL="914400" rtl="0" algn="l">
              <a:spcBef>
                <a:spcPts val="0"/>
              </a:spcBef>
              <a:spcAft>
                <a:spcPts val="0"/>
              </a:spcAft>
              <a:buSzPts val="1800"/>
              <a:buChar char="•"/>
            </a:pPr>
            <a:r>
              <a:rPr lang="en-US" sz="1800"/>
              <a:t>Domain Shift</a:t>
            </a:r>
            <a:endParaRPr sz="1800"/>
          </a:p>
          <a:p>
            <a:pPr indent="-342900" lvl="1" marL="914400" rtl="0" algn="l">
              <a:spcBef>
                <a:spcPts val="0"/>
              </a:spcBef>
              <a:spcAft>
                <a:spcPts val="0"/>
              </a:spcAft>
              <a:buSzPts val="1800"/>
              <a:buChar char="•"/>
            </a:pPr>
            <a:r>
              <a:rPr lang="en-US" sz="1800"/>
              <a:t>Limited labeled data - hindering training</a:t>
            </a:r>
            <a:endParaRPr sz="1800"/>
          </a:p>
          <a:p>
            <a:pPr indent="-342900" lvl="0" marL="457200" rtl="0" algn="l">
              <a:spcBef>
                <a:spcPts val="0"/>
              </a:spcBef>
              <a:spcAft>
                <a:spcPts val="0"/>
              </a:spcAft>
              <a:buSzPts val="1800"/>
              <a:buChar char="•"/>
            </a:pPr>
            <a:r>
              <a:rPr lang="en-US" sz="1800"/>
              <a:t>RF-DETR (~50% accuracy)</a:t>
            </a:r>
            <a:endParaRPr sz="1800"/>
          </a:p>
          <a:p>
            <a:pPr indent="-342900" lvl="1" marL="914400" rtl="0" algn="l">
              <a:spcBef>
                <a:spcPts val="0"/>
              </a:spcBef>
              <a:spcAft>
                <a:spcPts val="0"/>
              </a:spcAft>
              <a:buSzPts val="1800"/>
              <a:buChar char="•"/>
            </a:pPr>
            <a:r>
              <a:rPr lang="en-US" sz="1800"/>
              <a:t>Weak generalization</a:t>
            </a:r>
            <a:endParaRPr sz="1800"/>
          </a:p>
          <a:p>
            <a:pPr indent="-342900" lvl="1" marL="914400" rtl="0" algn="l">
              <a:spcBef>
                <a:spcPts val="0"/>
              </a:spcBef>
              <a:spcAft>
                <a:spcPts val="0"/>
              </a:spcAft>
              <a:buSzPts val="1800"/>
              <a:buChar char="•"/>
            </a:pPr>
            <a:r>
              <a:rPr lang="en-US" sz="1800"/>
              <a:t>Inconsistent</a:t>
            </a:r>
            <a:r>
              <a:rPr lang="en-US" sz="1800"/>
              <a:t> detection with buoys</a:t>
            </a:r>
            <a:endParaRPr sz="1800"/>
          </a:p>
          <a:p>
            <a:pPr indent="-342900" lvl="0" marL="457200" rtl="0" algn="l">
              <a:spcBef>
                <a:spcPts val="0"/>
              </a:spcBef>
              <a:spcAft>
                <a:spcPts val="0"/>
              </a:spcAft>
              <a:buSzPts val="1800"/>
              <a:buChar char="•"/>
            </a:pPr>
            <a:r>
              <a:rPr lang="en-US" sz="1800"/>
              <a:t>SAM3 - </a:t>
            </a:r>
            <a:r>
              <a:rPr lang="en-US" sz="1800"/>
              <a:t>Hugging Face</a:t>
            </a:r>
            <a:r>
              <a:rPr lang="en-US" sz="1800"/>
              <a:t> transformers wrapped </a:t>
            </a:r>
            <a:endParaRPr sz="1800"/>
          </a:p>
          <a:p>
            <a:pPr indent="0" lvl="0" marL="0" rtl="0" algn="l">
              <a:spcBef>
                <a:spcPts val="1200"/>
              </a:spcBef>
              <a:spcAft>
                <a:spcPts val="0"/>
              </a:spcAft>
              <a:buNone/>
            </a:pPr>
            <a:r>
              <a:rPr lang="en-US" sz="1800"/>
              <a:t>What We Did Do:</a:t>
            </a:r>
            <a:endParaRPr sz="1800"/>
          </a:p>
          <a:p>
            <a:pPr indent="-342900" lvl="0" marL="457200" rtl="0" algn="l">
              <a:spcBef>
                <a:spcPts val="1200"/>
              </a:spcBef>
              <a:spcAft>
                <a:spcPts val="0"/>
              </a:spcAft>
              <a:buSzPts val="1800"/>
              <a:buChar char="•"/>
            </a:pPr>
            <a:r>
              <a:rPr lang="en-US" sz="1800"/>
              <a:t>Used SAM3 Native for fish localization and BioCLIP for region-aware species classification (79.8% accuracy)</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457075" y="282126"/>
            <a:ext cx="6375300" cy="4143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Project Progression - Segmentation</a:t>
            </a:r>
            <a:endParaRPr/>
          </a:p>
        </p:txBody>
      </p:sp>
      <p:sp>
        <p:nvSpPr>
          <p:cNvPr id="141" name="Google Shape;141;p24"/>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pic>
        <p:nvPicPr>
          <p:cNvPr descr="preencoded.png" id="142" name="Google Shape;142;p24"/>
          <p:cNvPicPr preferRelativeResize="0"/>
          <p:nvPr/>
        </p:nvPicPr>
        <p:blipFill rotWithShape="1">
          <a:blip r:embed="rId3">
            <a:alphaModFix/>
          </a:blip>
          <a:srcRect b="0" l="0" r="0" t="0"/>
          <a:stretch/>
        </p:blipFill>
        <p:spPr>
          <a:xfrm>
            <a:off x="3189514" y="1654950"/>
            <a:ext cx="181048" cy="181048"/>
          </a:xfrm>
          <a:prstGeom prst="rect">
            <a:avLst/>
          </a:prstGeom>
          <a:noFill/>
          <a:ln>
            <a:noFill/>
          </a:ln>
        </p:spPr>
      </p:pic>
      <p:pic>
        <p:nvPicPr>
          <p:cNvPr descr="preencoded.png" id="143" name="Google Shape;143;p24"/>
          <p:cNvPicPr preferRelativeResize="0"/>
          <p:nvPr/>
        </p:nvPicPr>
        <p:blipFill rotWithShape="1">
          <a:blip r:embed="rId3">
            <a:alphaModFix/>
          </a:blip>
          <a:srcRect b="0" l="0" r="0" t="0"/>
          <a:stretch/>
        </p:blipFill>
        <p:spPr>
          <a:xfrm>
            <a:off x="5268436" y="1654950"/>
            <a:ext cx="181048" cy="181048"/>
          </a:xfrm>
          <a:prstGeom prst="rect">
            <a:avLst/>
          </a:prstGeom>
          <a:noFill/>
          <a:ln>
            <a:noFill/>
          </a:ln>
        </p:spPr>
      </p:pic>
      <p:sp>
        <p:nvSpPr>
          <p:cNvPr id="144" name="Google Shape;144;p24"/>
          <p:cNvSpPr/>
          <p:nvPr/>
        </p:nvSpPr>
        <p:spPr>
          <a:xfrm>
            <a:off x="1324080" y="814350"/>
            <a:ext cx="1810500" cy="1875000"/>
          </a:xfrm>
          <a:prstGeom prst="rect">
            <a:avLst/>
          </a:prstGeom>
          <a:noFill/>
          <a:ln cap="flat" cmpd="sng" w="13475">
            <a:solidFill>
              <a:srgbClr val="F4845F"/>
            </a:solidFill>
            <a:prstDash val="solid"/>
            <a:round/>
            <a:headEnd len="sm" w="sm" type="none"/>
            <a:tailEnd len="sm" w="sm" type="none"/>
          </a:ln>
          <a:effectLst>
            <a:outerShdw blurRad="71846" rotWithShape="0" algn="bl" dir="8100000" dist="26942">
              <a:srgbClr val="000000">
                <a:alpha val="30199"/>
              </a:srgbClr>
            </a:outerShdw>
          </a:effectLst>
        </p:spPr>
        <p:txBody>
          <a:bodyPr anchorCtr="0" anchor="ctr" bIns="64650" lIns="64650" spcFirstLastPara="1" rIns="64650" wrap="square" tIns="64650">
            <a:noAutofit/>
          </a:bodyPr>
          <a:lstStyle/>
          <a:p>
            <a:pPr indent="0" lvl="0" marL="0" rtl="0" algn="l">
              <a:spcBef>
                <a:spcPts val="0"/>
              </a:spcBef>
              <a:spcAft>
                <a:spcPts val="0"/>
              </a:spcAft>
              <a:buNone/>
            </a:pPr>
            <a:r>
              <a:t/>
            </a:r>
            <a:endParaRPr sz="990"/>
          </a:p>
        </p:txBody>
      </p:sp>
      <p:sp>
        <p:nvSpPr>
          <p:cNvPr id="145" name="Google Shape;145;p24"/>
          <p:cNvSpPr/>
          <p:nvPr/>
        </p:nvSpPr>
        <p:spPr>
          <a:xfrm>
            <a:off x="1421083" y="836401"/>
            <a:ext cx="1557900" cy="25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9"/>
              <a:buFont typeface="Calibri"/>
              <a:buNone/>
            </a:pPr>
            <a:r>
              <a:rPr b="1" i="0" lang="en-US" sz="1109" u="none" cap="none" strike="noStrike">
                <a:solidFill>
                  <a:srgbClr val="182B49"/>
                </a:solidFill>
                <a:latin typeface="Calibri"/>
                <a:ea typeface="Calibri"/>
                <a:cs typeface="Calibri"/>
                <a:sym typeface="Calibri"/>
              </a:rPr>
              <a:t>YOLO v8/v11/v12</a:t>
            </a:r>
            <a:endParaRPr b="0" i="0" sz="1109" u="none" cap="none" strike="noStrike">
              <a:solidFill>
                <a:srgbClr val="182B49"/>
              </a:solidFill>
              <a:latin typeface="Calibri"/>
              <a:ea typeface="Calibri"/>
              <a:cs typeface="Calibri"/>
              <a:sym typeface="Calibri"/>
            </a:endParaRPr>
          </a:p>
        </p:txBody>
      </p:sp>
      <p:sp>
        <p:nvSpPr>
          <p:cNvPr id="146" name="Google Shape;146;p24"/>
          <p:cNvSpPr/>
          <p:nvPr/>
        </p:nvSpPr>
        <p:spPr>
          <a:xfrm>
            <a:off x="1421079" y="1090063"/>
            <a:ext cx="16488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9BB5"/>
              </a:buClr>
              <a:buSzPts val="672"/>
              <a:buFont typeface="Calibri"/>
              <a:buNone/>
            </a:pPr>
            <a:r>
              <a:rPr b="0" i="1" lang="en-US" sz="672" u="none" cap="none" strike="noStrike">
                <a:solidFill>
                  <a:schemeClr val="dk1"/>
                </a:solidFill>
                <a:latin typeface="Calibri"/>
                <a:ea typeface="Calibri"/>
                <a:cs typeface="Calibri"/>
                <a:sym typeface="Calibri"/>
              </a:rPr>
              <a:t>Custom-trained</a:t>
            </a:r>
            <a:endParaRPr b="0" i="0" sz="672" u="none" cap="none" strike="noStrike">
              <a:solidFill>
                <a:schemeClr val="dk1"/>
              </a:solidFill>
              <a:latin typeface="Calibri"/>
              <a:ea typeface="Calibri"/>
              <a:cs typeface="Calibri"/>
              <a:sym typeface="Calibri"/>
            </a:endParaRPr>
          </a:p>
        </p:txBody>
      </p:sp>
      <p:sp>
        <p:nvSpPr>
          <p:cNvPr id="147" name="Google Shape;147;p24"/>
          <p:cNvSpPr/>
          <p:nvPr/>
        </p:nvSpPr>
        <p:spPr>
          <a:xfrm>
            <a:off x="1421079" y="1318713"/>
            <a:ext cx="1616400" cy="45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45F"/>
              </a:buClr>
              <a:buSzPts val="2970"/>
              <a:buFont typeface="Calibri"/>
              <a:buNone/>
            </a:pPr>
            <a:r>
              <a:rPr b="1" lang="en-US" sz="2970">
                <a:solidFill>
                  <a:srgbClr val="F4845F"/>
                </a:solidFill>
                <a:latin typeface="Calibri"/>
                <a:ea typeface="Calibri"/>
                <a:cs typeface="Calibri"/>
                <a:sym typeface="Calibri"/>
              </a:rPr>
              <a:t>6.9</a:t>
            </a:r>
            <a:r>
              <a:rPr b="1" i="0" lang="en-US" sz="2970" u="none" cap="none" strike="noStrike">
                <a:solidFill>
                  <a:srgbClr val="F4845F"/>
                </a:solidFill>
                <a:latin typeface="Calibri"/>
                <a:ea typeface="Calibri"/>
                <a:cs typeface="Calibri"/>
                <a:sym typeface="Calibri"/>
              </a:rPr>
              <a:t>%</a:t>
            </a:r>
            <a:endParaRPr b="0" i="0" sz="2970" u="none" cap="none" strike="noStrike">
              <a:solidFill>
                <a:schemeClr val="dk1"/>
              </a:solidFill>
              <a:latin typeface="Calibri"/>
              <a:ea typeface="Calibri"/>
              <a:cs typeface="Calibri"/>
              <a:sym typeface="Calibri"/>
            </a:endParaRPr>
          </a:p>
        </p:txBody>
      </p:sp>
      <p:sp>
        <p:nvSpPr>
          <p:cNvPr id="148" name="Google Shape;148;p24"/>
          <p:cNvSpPr/>
          <p:nvPr/>
        </p:nvSpPr>
        <p:spPr>
          <a:xfrm>
            <a:off x="1421079" y="1732543"/>
            <a:ext cx="1616400" cy="14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9BB5"/>
              </a:buClr>
              <a:buSzPts val="636"/>
              <a:buFont typeface="Calibri"/>
              <a:buNone/>
            </a:pPr>
            <a:r>
              <a:rPr lang="en-US" sz="636">
                <a:solidFill>
                  <a:schemeClr val="dk1"/>
                </a:solidFill>
                <a:latin typeface="Calibri"/>
                <a:ea typeface="Calibri"/>
                <a:cs typeface="Calibri"/>
                <a:sym typeface="Calibri"/>
              </a:rPr>
              <a:t>Precision</a:t>
            </a:r>
            <a:endParaRPr b="0" i="0" sz="636" u="none" cap="none" strike="noStrike">
              <a:solidFill>
                <a:schemeClr val="dk1"/>
              </a:solidFill>
              <a:latin typeface="Calibri"/>
              <a:ea typeface="Calibri"/>
              <a:cs typeface="Calibri"/>
              <a:sym typeface="Calibri"/>
            </a:endParaRPr>
          </a:p>
        </p:txBody>
      </p:sp>
      <p:sp>
        <p:nvSpPr>
          <p:cNvPr id="149" name="Google Shape;149;p24"/>
          <p:cNvSpPr/>
          <p:nvPr/>
        </p:nvSpPr>
        <p:spPr>
          <a:xfrm>
            <a:off x="1421079" y="1900662"/>
            <a:ext cx="1616400" cy="9600"/>
          </a:xfrm>
          <a:prstGeom prst="rect">
            <a:avLst/>
          </a:prstGeom>
          <a:solidFill>
            <a:srgbClr val="223344"/>
          </a:solidFill>
          <a:ln cap="flat" cmpd="sng" w="8975">
            <a:solidFill>
              <a:srgbClr val="223344"/>
            </a:solidFill>
            <a:prstDash val="solid"/>
            <a:round/>
            <a:headEnd len="sm" w="sm" type="none"/>
            <a:tailEnd len="sm" w="sm" type="none"/>
          </a:ln>
        </p:spPr>
        <p:txBody>
          <a:bodyPr anchorCtr="0" anchor="ctr" bIns="64650" lIns="64650" spcFirstLastPara="1" rIns="64650" wrap="square" tIns="64650">
            <a:noAutofit/>
          </a:bodyPr>
          <a:lstStyle/>
          <a:p>
            <a:pPr indent="0" lvl="0" marL="0" rtl="0" algn="l">
              <a:spcBef>
                <a:spcPts val="0"/>
              </a:spcBef>
              <a:spcAft>
                <a:spcPts val="0"/>
              </a:spcAft>
              <a:buNone/>
            </a:pPr>
            <a:r>
              <a:t/>
            </a:r>
            <a:endParaRPr/>
          </a:p>
        </p:txBody>
      </p:sp>
      <p:sp>
        <p:nvSpPr>
          <p:cNvPr id="150" name="Google Shape;150;p24"/>
          <p:cNvSpPr/>
          <p:nvPr/>
        </p:nvSpPr>
        <p:spPr>
          <a:xfrm>
            <a:off x="1421083" y="1932994"/>
            <a:ext cx="1746300" cy="71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1" sz="778">
              <a:solidFill>
                <a:schemeClr val="dk1"/>
              </a:solidFill>
              <a:latin typeface="Calibri"/>
              <a:ea typeface="Calibri"/>
              <a:cs typeface="Calibri"/>
              <a:sym typeface="Calibri"/>
            </a:endParaRPr>
          </a:p>
          <a:p>
            <a:pPr indent="0" lvl="0" marL="0" rtl="0" algn="l">
              <a:spcBef>
                <a:spcPts val="0"/>
              </a:spcBef>
              <a:spcAft>
                <a:spcPts val="0"/>
              </a:spcAft>
              <a:buNone/>
            </a:pPr>
            <a:r>
              <a:rPr b="1" lang="en-US" sz="778">
                <a:solidFill>
                  <a:schemeClr val="dk1"/>
                </a:solidFill>
                <a:latin typeface="Calibri"/>
                <a:ea typeface="Calibri"/>
                <a:cs typeface="Calibri"/>
                <a:sym typeface="Calibri"/>
              </a:rPr>
              <a:t>Precision:</a:t>
            </a:r>
            <a:r>
              <a:rPr lang="en-US" sz="778">
                <a:solidFill>
                  <a:schemeClr val="dk1"/>
                </a:solidFill>
                <a:latin typeface="Calibri"/>
                <a:ea typeface="Calibri"/>
                <a:cs typeface="Calibri"/>
                <a:sym typeface="Calibri"/>
              </a:rPr>
              <a:t> 6.9%  |  F1: 7.9%</a:t>
            </a:r>
            <a:endParaRPr sz="778">
              <a:solidFill>
                <a:schemeClr val="dk1"/>
              </a:solidFill>
              <a:latin typeface="Calibri"/>
              <a:ea typeface="Calibri"/>
              <a:cs typeface="Calibri"/>
              <a:sym typeface="Calibri"/>
            </a:endParaRPr>
          </a:p>
          <a:p>
            <a:pPr indent="0" lvl="0" marL="0" marR="0" rtl="0" algn="l">
              <a:spcBef>
                <a:spcPts val="0"/>
              </a:spcBef>
              <a:spcAft>
                <a:spcPts val="0"/>
              </a:spcAft>
              <a:buNone/>
            </a:pPr>
            <a:r>
              <a:rPr i="0" lang="en-US" sz="778" u="none" cap="none" strike="noStrike">
                <a:solidFill>
                  <a:schemeClr val="dk1"/>
                </a:solidFill>
                <a:latin typeface="Calibri"/>
                <a:ea typeface="Calibri"/>
                <a:cs typeface="Calibri"/>
                <a:sym typeface="Calibri"/>
              </a:rPr>
              <a:t>Domain shift:</a:t>
            </a:r>
            <a:r>
              <a:rPr b="0" i="0" lang="en-US" sz="778" u="none" cap="none" strike="noStrike">
                <a:solidFill>
                  <a:schemeClr val="dk1"/>
                </a:solidFill>
                <a:latin typeface="Calibri"/>
                <a:ea typeface="Calibri"/>
                <a:cs typeface="Calibri"/>
                <a:sym typeface="Calibri"/>
              </a:rPr>
              <a:t> failed on real footage</a:t>
            </a:r>
            <a:endParaRPr b="0" i="0" sz="778"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778" u="none" cap="none" strike="noStrike">
                <a:solidFill>
                  <a:schemeClr val="dk1"/>
                </a:solidFill>
                <a:latin typeface="Calibri"/>
                <a:ea typeface="Calibri"/>
                <a:cs typeface="Calibri"/>
                <a:sym typeface="Calibri"/>
              </a:rPr>
              <a:t>Limited labeled data (~7K boxes)</a:t>
            </a:r>
            <a:endParaRPr b="0" i="0" sz="778"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778" u="none" cap="none" strike="noStrike">
                <a:solidFill>
                  <a:schemeClr val="dk1"/>
                </a:solidFill>
                <a:latin typeface="Calibri"/>
                <a:ea typeface="Calibri"/>
                <a:cs typeface="Calibri"/>
                <a:sym typeface="Calibri"/>
              </a:rPr>
              <a:t>Pivoted away after v8, v11, v12 tests</a:t>
            </a:r>
            <a:endParaRPr b="0" i="0" sz="778" u="none" cap="none" strike="noStrike">
              <a:solidFill>
                <a:schemeClr val="dk1"/>
              </a:solidFill>
              <a:latin typeface="Calibri"/>
              <a:ea typeface="Calibri"/>
              <a:cs typeface="Calibri"/>
              <a:sym typeface="Calibri"/>
            </a:endParaRPr>
          </a:p>
        </p:txBody>
      </p:sp>
      <p:sp>
        <p:nvSpPr>
          <p:cNvPr id="151" name="Google Shape;151;p24"/>
          <p:cNvSpPr/>
          <p:nvPr/>
        </p:nvSpPr>
        <p:spPr>
          <a:xfrm>
            <a:off x="3425584" y="814357"/>
            <a:ext cx="1810500" cy="1875000"/>
          </a:xfrm>
          <a:prstGeom prst="rect">
            <a:avLst/>
          </a:prstGeom>
          <a:noFill/>
          <a:ln cap="flat" cmpd="sng" w="13475">
            <a:solidFill>
              <a:srgbClr val="F0C040"/>
            </a:solidFill>
            <a:prstDash val="solid"/>
            <a:round/>
            <a:headEnd len="sm" w="sm" type="none"/>
            <a:tailEnd len="sm" w="sm" type="none"/>
          </a:ln>
          <a:effectLst>
            <a:outerShdw blurRad="71846" rotWithShape="0" algn="bl" dir="8100000" dist="26942">
              <a:srgbClr val="000000">
                <a:alpha val="30199"/>
              </a:srgbClr>
            </a:outerShdw>
          </a:effectLst>
        </p:spPr>
        <p:txBody>
          <a:bodyPr anchorCtr="0" anchor="ctr" bIns="64650" lIns="64650" spcFirstLastPara="1" rIns="64650" wrap="square" tIns="64650">
            <a:noAutofit/>
          </a:bodyPr>
          <a:lstStyle/>
          <a:p>
            <a:pPr indent="0" lvl="0" marL="0" rtl="0" algn="l">
              <a:spcBef>
                <a:spcPts val="0"/>
              </a:spcBef>
              <a:spcAft>
                <a:spcPts val="0"/>
              </a:spcAft>
              <a:buNone/>
            </a:pPr>
            <a:r>
              <a:t/>
            </a:r>
            <a:endParaRPr/>
          </a:p>
        </p:txBody>
      </p:sp>
      <p:sp>
        <p:nvSpPr>
          <p:cNvPr id="152" name="Google Shape;152;p24"/>
          <p:cNvSpPr/>
          <p:nvPr/>
        </p:nvSpPr>
        <p:spPr>
          <a:xfrm>
            <a:off x="3519488" y="836401"/>
            <a:ext cx="1557900" cy="25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9"/>
              <a:buFont typeface="Calibri"/>
              <a:buNone/>
            </a:pPr>
            <a:r>
              <a:rPr b="1" i="0" lang="en-US" sz="1109" u="none" cap="none" strike="noStrike">
                <a:solidFill>
                  <a:schemeClr val="dk1"/>
                </a:solidFill>
                <a:latin typeface="Calibri"/>
                <a:ea typeface="Calibri"/>
                <a:cs typeface="Calibri"/>
                <a:sym typeface="Calibri"/>
              </a:rPr>
              <a:t>RF-DETR</a:t>
            </a:r>
            <a:endParaRPr b="0" i="0" sz="1109" u="none" cap="none" strike="noStrike">
              <a:solidFill>
                <a:schemeClr val="dk1"/>
              </a:solidFill>
              <a:latin typeface="Calibri"/>
              <a:ea typeface="Calibri"/>
              <a:cs typeface="Calibri"/>
              <a:sym typeface="Calibri"/>
            </a:endParaRPr>
          </a:p>
        </p:txBody>
      </p:sp>
      <p:sp>
        <p:nvSpPr>
          <p:cNvPr id="153" name="Google Shape;153;p24"/>
          <p:cNvSpPr/>
          <p:nvPr/>
        </p:nvSpPr>
        <p:spPr>
          <a:xfrm>
            <a:off x="3522576" y="1090063"/>
            <a:ext cx="16488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9BB5"/>
              </a:buClr>
              <a:buSzPts val="672"/>
              <a:buFont typeface="Calibri"/>
              <a:buNone/>
            </a:pPr>
            <a:r>
              <a:rPr b="0" i="1" lang="en-US" sz="672" u="none" cap="none" strike="noStrike">
                <a:solidFill>
                  <a:srgbClr val="182B49"/>
                </a:solidFill>
                <a:latin typeface="Calibri"/>
                <a:ea typeface="Calibri"/>
                <a:cs typeface="Calibri"/>
                <a:sym typeface="Calibri"/>
              </a:rPr>
              <a:t>Baseline transformer detector</a:t>
            </a:r>
            <a:endParaRPr b="0" i="0" sz="672" u="none" cap="none" strike="noStrike">
              <a:solidFill>
                <a:srgbClr val="182B49"/>
              </a:solidFill>
              <a:latin typeface="Calibri"/>
              <a:ea typeface="Calibri"/>
              <a:cs typeface="Calibri"/>
              <a:sym typeface="Calibri"/>
            </a:endParaRPr>
          </a:p>
        </p:txBody>
      </p:sp>
      <p:sp>
        <p:nvSpPr>
          <p:cNvPr id="154" name="Google Shape;154;p24"/>
          <p:cNvSpPr/>
          <p:nvPr/>
        </p:nvSpPr>
        <p:spPr>
          <a:xfrm>
            <a:off x="3522576" y="1318713"/>
            <a:ext cx="1616400" cy="45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C040"/>
              </a:buClr>
              <a:buSzPts val="2970"/>
              <a:buFont typeface="Calibri"/>
              <a:buNone/>
            </a:pPr>
            <a:r>
              <a:rPr b="1" i="0" lang="en-US" sz="2970" u="none" cap="none" strike="noStrike">
                <a:solidFill>
                  <a:srgbClr val="F0C040"/>
                </a:solidFill>
                <a:latin typeface="Calibri"/>
                <a:ea typeface="Calibri"/>
                <a:cs typeface="Calibri"/>
                <a:sym typeface="Calibri"/>
              </a:rPr>
              <a:t>4</a:t>
            </a:r>
            <a:r>
              <a:rPr b="1" lang="en-US" sz="2970">
                <a:solidFill>
                  <a:srgbClr val="F0C040"/>
                </a:solidFill>
                <a:latin typeface="Calibri"/>
                <a:ea typeface="Calibri"/>
                <a:cs typeface="Calibri"/>
                <a:sym typeface="Calibri"/>
              </a:rPr>
              <a:t>9.6</a:t>
            </a:r>
            <a:r>
              <a:rPr b="1" i="0" lang="en-US" sz="2970" u="none" cap="none" strike="noStrike">
                <a:solidFill>
                  <a:srgbClr val="F0C040"/>
                </a:solidFill>
                <a:latin typeface="Calibri"/>
                <a:ea typeface="Calibri"/>
                <a:cs typeface="Calibri"/>
                <a:sym typeface="Calibri"/>
              </a:rPr>
              <a:t>%</a:t>
            </a:r>
            <a:endParaRPr b="0" i="0" sz="2970" u="none" cap="none" strike="noStrike">
              <a:solidFill>
                <a:schemeClr val="dk1"/>
              </a:solidFill>
              <a:latin typeface="Calibri"/>
              <a:ea typeface="Calibri"/>
              <a:cs typeface="Calibri"/>
              <a:sym typeface="Calibri"/>
            </a:endParaRPr>
          </a:p>
        </p:txBody>
      </p:sp>
      <p:sp>
        <p:nvSpPr>
          <p:cNvPr id="155" name="Google Shape;155;p24"/>
          <p:cNvSpPr/>
          <p:nvPr/>
        </p:nvSpPr>
        <p:spPr>
          <a:xfrm>
            <a:off x="3522576" y="1732543"/>
            <a:ext cx="1616400" cy="14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9BB5"/>
              </a:buClr>
              <a:buSzPts val="636"/>
              <a:buFont typeface="Calibri"/>
              <a:buNone/>
            </a:pPr>
            <a:r>
              <a:rPr lang="en-US" sz="636">
                <a:solidFill>
                  <a:schemeClr val="dk1"/>
                </a:solidFill>
                <a:latin typeface="Calibri"/>
                <a:ea typeface="Calibri"/>
                <a:cs typeface="Calibri"/>
                <a:sym typeface="Calibri"/>
              </a:rPr>
              <a:t>Precision</a:t>
            </a:r>
            <a:endParaRPr b="0" i="0" sz="636" u="none" cap="none" strike="noStrike">
              <a:solidFill>
                <a:schemeClr val="dk1"/>
              </a:solidFill>
              <a:latin typeface="Calibri"/>
              <a:ea typeface="Calibri"/>
              <a:cs typeface="Calibri"/>
              <a:sym typeface="Calibri"/>
            </a:endParaRPr>
          </a:p>
        </p:txBody>
      </p:sp>
      <p:sp>
        <p:nvSpPr>
          <p:cNvPr id="156" name="Google Shape;156;p24"/>
          <p:cNvSpPr/>
          <p:nvPr/>
        </p:nvSpPr>
        <p:spPr>
          <a:xfrm>
            <a:off x="3522576" y="1900662"/>
            <a:ext cx="1616400" cy="9600"/>
          </a:xfrm>
          <a:prstGeom prst="rect">
            <a:avLst/>
          </a:prstGeom>
          <a:solidFill>
            <a:srgbClr val="223344"/>
          </a:solidFill>
          <a:ln cap="flat" cmpd="sng" w="8975">
            <a:solidFill>
              <a:srgbClr val="223344"/>
            </a:solidFill>
            <a:prstDash val="solid"/>
            <a:round/>
            <a:headEnd len="sm" w="sm" type="none"/>
            <a:tailEnd len="sm" w="sm" type="none"/>
          </a:ln>
        </p:spPr>
        <p:txBody>
          <a:bodyPr anchorCtr="0" anchor="ctr" bIns="64650" lIns="64650" spcFirstLastPara="1" rIns="64650" wrap="square" tIns="64650">
            <a:noAutofit/>
          </a:bodyPr>
          <a:lstStyle/>
          <a:p>
            <a:pPr indent="0" lvl="0" marL="0" rtl="0" algn="l">
              <a:spcBef>
                <a:spcPts val="0"/>
              </a:spcBef>
              <a:spcAft>
                <a:spcPts val="0"/>
              </a:spcAft>
              <a:buNone/>
            </a:pPr>
            <a:r>
              <a:t/>
            </a:r>
            <a:endParaRPr/>
          </a:p>
        </p:txBody>
      </p:sp>
      <p:sp>
        <p:nvSpPr>
          <p:cNvPr id="157" name="Google Shape;157;p24"/>
          <p:cNvSpPr/>
          <p:nvPr/>
        </p:nvSpPr>
        <p:spPr>
          <a:xfrm>
            <a:off x="3522576" y="1932992"/>
            <a:ext cx="1648800" cy="71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78">
              <a:solidFill>
                <a:schemeClr val="dk1"/>
              </a:solidFill>
              <a:latin typeface="Calibri"/>
              <a:ea typeface="Calibri"/>
              <a:cs typeface="Calibri"/>
              <a:sym typeface="Calibri"/>
            </a:endParaRPr>
          </a:p>
          <a:p>
            <a:pPr indent="0" lvl="0" marL="0" marR="0" rtl="0" algn="l">
              <a:spcBef>
                <a:spcPts val="0"/>
              </a:spcBef>
              <a:spcAft>
                <a:spcPts val="0"/>
              </a:spcAft>
              <a:buNone/>
            </a:pPr>
            <a:r>
              <a:rPr b="1" lang="en-US" sz="778">
                <a:solidFill>
                  <a:schemeClr val="dk1"/>
                </a:solidFill>
                <a:latin typeface="Calibri"/>
                <a:ea typeface="Calibri"/>
                <a:cs typeface="Calibri"/>
                <a:sym typeface="Calibri"/>
              </a:rPr>
              <a:t>F1</a:t>
            </a:r>
            <a:r>
              <a:rPr b="0" i="0" lang="en-US" sz="778" u="none" cap="none" strike="noStrike">
                <a:solidFill>
                  <a:schemeClr val="dk1"/>
                </a:solidFill>
                <a:latin typeface="Calibri"/>
                <a:ea typeface="Calibri"/>
                <a:cs typeface="Calibri"/>
                <a:sym typeface="Calibri"/>
              </a:rPr>
              <a:t>: 4</a:t>
            </a:r>
            <a:r>
              <a:rPr lang="en-US" sz="778">
                <a:solidFill>
                  <a:schemeClr val="dk1"/>
                </a:solidFill>
                <a:latin typeface="Calibri"/>
                <a:ea typeface="Calibri"/>
                <a:cs typeface="Calibri"/>
                <a:sym typeface="Calibri"/>
              </a:rPr>
              <a:t>5</a:t>
            </a:r>
            <a:r>
              <a:rPr b="0" i="0" lang="en-US" sz="778" u="none" cap="none" strike="noStrike">
                <a:solidFill>
                  <a:schemeClr val="dk1"/>
                </a:solidFill>
                <a:latin typeface="Calibri"/>
                <a:ea typeface="Calibri"/>
                <a:cs typeface="Calibri"/>
                <a:sym typeface="Calibri"/>
              </a:rPr>
              <a:t>.</a:t>
            </a:r>
            <a:r>
              <a:rPr lang="en-US" sz="778">
                <a:solidFill>
                  <a:schemeClr val="dk1"/>
                </a:solidFill>
                <a:latin typeface="Calibri"/>
                <a:ea typeface="Calibri"/>
                <a:cs typeface="Calibri"/>
                <a:sym typeface="Calibri"/>
              </a:rPr>
              <a:t>2</a:t>
            </a:r>
            <a:r>
              <a:rPr b="0" i="0" lang="en-US" sz="778" u="none" cap="none" strike="noStrike">
                <a:solidFill>
                  <a:schemeClr val="dk1"/>
                </a:solidFill>
                <a:latin typeface="Calibri"/>
                <a:ea typeface="Calibri"/>
                <a:cs typeface="Calibri"/>
                <a:sym typeface="Calibri"/>
              </a:rPr>
              <a:t>%  |  </a:t>
            </a:r>
            <a:r>
              <a:rPr b="1" i="0" lang="en-US" sz="778" u="none" cap="none" strike="noStrike">
                <a:solidFill>
                  <a:schemeClr val="dk1"/>
                </a:solidFill>
                <a:latin typeface="Calibri"/>
                <a:ea typeface="Calibri"/>
                <a:cs typeface="Calibri"/>
                <a:sym typeface="Calibri"/>
              </a:rPr>
              <a:t>Recall</a:t>
            </a:r>
            <a:r>
              <a:rPr b="0" i="0" lang="en-US" sz="778" u="none" cap="none" strike="noStrike">
                <a:solidFill>
                  <a:schemeClr val="dk1"/>
                </a:solidFill>
                <a:latin typeface="Calibri"/>
                <a:ea typeface="Calibri"/>
                <a:cs typeface="Calibri"/>
                <a:sym typeface="Calibri"/>
              </a:rPr>
              <a:t>: 41.5%</a:t>
            </a:r>
            <a:endParaRPr b="0" i="0" sz="778"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778" u="none" cap="none" strike="noStrike">
                <a:solidFill>
                  <a:schemeClr val="dk1"/>
                </a:solidFill>
                <a:latin typeface="Calibri"/>
                <a:ea typeface="Calibri"/>
                <a:cs typeface="Calibri"/>
                <a:sym typeface="Calibri"/>
              </a:rPr>
              <a:t>3,009 false positives on CG dataset</a:t>
            </a:r>
            <a:endParaRPr b="0" i="0" sz="778"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778" u="none" cap="none" strike="noStrike">
                <a:solidFill>
                  <a:schemeClr val="dk1"/>
                </a:solidFill>
                <a:latin typeface="Calibri"/>
                <a:ea typeface="Calibri"/>
                <a:cs typeface="Calibri"/>
                <a:sym typeface="Calibri"/>
              </a:rPr>
              <a:t>Buoys detected as fish</a:t>
            </a:r>
            <a:endParaRPr b="0" i="0" sz="778"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778" u="none" cap="none" strike="noStrike">
                <a:solidFill>
                  <a:schemeClr val="dk1"/>
                </a:solidFill>
                <a:latin typeface="Calibri"/>
                <a:ea typeface="Calibri"/>
                <a:cs typeface="Calibri"/>
                <a:sym typeface="Calibri"/>
              </a:rPr>
              <a:t>Hard-negative dataset built to fix</a:t>
            </a:r>
            <a:endParaRPr b="0" i="0" sz="778" u="none" cap="none" strike="noStrike">
              <a:solidFill>
                <a:schemeClr val="dk1"/>
              </a:solidFill>
              <a:latin typeface="Calibri"/>
              <a:ea typeface="Calibri"/>
              <a:cs typeface="Calibri"/>
              <a:sym typeface="Calibri"/>
            </a:endParaRPr>
          </a:p>
        </p:txBody>
      </p:sp>
      <p:sp>
        <p:nvSpPr>
          <p:cNvPr id="158" name="Google Shape;158;p24"/>
          <p:cNvSpPr/>
          <p:nvPr/>
        </p:nvSpPr>
        <p:spPr>
          <a:xfrm>
            <a:off x="5527081" y="814357"/>
            <a:ext cx="1810500" cy="1875000"/>
          </a:xfrm>
          <a:prstGeom prst="rect">
            <a:avLst/>
          </a:prstGeom>
          <a:noFill/>
          <a:ln cap="flat" cmpd="sng" w="13475">
            <a:solidFill>
              <a:srgbClr val="2ECC71"/>
            </a:solidFill>
            <a:prstDash val="solid"/>
            <a:round/>
            <a:headEnd len="sm" w="sm" type="none"/>
            <a:tailEnd len="sm" w="sm" type="none"/>
          </a:ln>
          <a:effectLst>
            <a:outerShdw blurRad="71846" rotWithShape="0" algn="bl" dir="8100000" dist="26942">
              <a:srgbClr val="000000">
                <a:alpha val="30199"/>
              </a:srgbClr>
            </a:outerShdw>
          </a:effectLst>
        </p:spPr>
        <p:txBody>
          <a:bodyPr anchorCtr="0" anchor="ctr" bIns="64650" lIns="64650" spcFirstLastPara="1" rIns="64650" wrap="square" tIns="64650">
            <a:noAutofit/>
          </a:bodyPr>
          <a:lstStyle/>
          <a:p>
            <a:pPr indent="0" lvl="0" marL="0" rtl="0" algn="l">
              <a:spcBef>
                <a:spcPts val="0"/>
              </a:spcBef>
              <a:spcAft>
                <a:spcPts val="0"/>
              </a:spcAft>
              <a:buNone/>
            </a:pPr>
            <a:r>
              <a:t/>
            </a:r>
            <a:endParaRPr sz="990"/>
          </a:p>
        </p:txBody>
      </p:sp>
      <p:sp>
        <p:nvSpPr>
          <p:cNvPr id="159" name="Google Shape;159;p24"/>
          <p:cNvSpPr/>
          <p:nvPr/>
        </p:nvSpPr>
        <p:spPr>
          <a:xfrm>
            <a:off x="5591743" y="836401"/>
            <a:ext cx="1557900" cy="25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9"/>
              <a:buFont typeface="Calibri"/>
              <a:buNone/>
            </a:pPr>
            <a:r>
              <a:rPr b="1" i="0" lang="en-US" sz="1109" u="none" cap="none" strike="noStrike">
                <a:solidFill>
                  <a:schemeClr val="dk1"/>
                </a:solidFill>
                <a:latin typeface="Calibri"/>
                <a:ea typeface="Calibri"/>
                <a:cs typeface="Calibri"/>
                <a:sym typeface="Calibri"/>
              </a:rPr>
              <a:t>SAM3</a:t>
            </a:r>
            <a:endParaRPr b="0" i="0" sz="1109" u="none" cap="none" strike="noStrike">
              <a:solidFill>
                <a:schemeClr val="dk1"/>
              </a:solidFill>
              <a:latin typeface="Calibri"/>
              <a:ea typeface="Calibri"/>
              <a:cs typeface="Calibri"/>
              <a:sym typeface="Calibri"/>
            </a:endParaRPr>
          </a:p>
        </p:txBody>
      </p:sp>
      <p:sp>
        <p:nvSpPr>
          <p:cNvPr id="160" name="Google Shape;160;p24"/>
          <p:cNvSpPr/>
          <p:nvPr/>
        </p:nvSpPr>
        <p:spPr>
          <a:xfrm>
            <a:off x="5624073" y="1090063"/>
            <a:ext cx="16488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9BB5"/>
              </a:buClr>
              <a:buSzPts val="672"/>
              <a:buFont typeface="Calibri"/>
              <a:buNone/>
            </a:pPr>
            <a:r>
              <a:t/>
            </a:r>
            <a:endParaRPr b="0" i="0" sz="672" u="none" cap="none" strike="noStrike">
              <a:solidFill>
                <a:schemeClr val="dk1"/>
              </a:solidFill>
              <a:latin typeface="Calibri"/>
              <a:ea typeface="Calibri"/>
              <a:cs typeface="Calibri"/>
              <a:sym typeface="Calibri"/>
            </a:endParaRPr>
          </a:p>
        </p:txBody>
      </p:sp>
      <p:sp>
        <p:nvSpPr>
          <p:cNvPr id="161" name="Google Shape;161;p24"/>
          <p:cNvSpPr/>
          <p:nvPr/>
        </p:nvSpPr>
        <p:spPr>
          <a:xfrm>
            <a:off x="5624073" y="1318713"/>
            <a:ext cx="1616400" cy="45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CC71"/>
              </a:buClr>
              <a:buSzPts val="2970"/>
              <a:buFont typeface="Calibri"/>
              <a:buNone/>
            </a:pPr>
            <a:r>
              <a:rPr b="1" i="0" lang="en-US" sz="2970" u="none" cap="none" strike="noStrike">
                <a:solidFill>
                  <a:srgbClr val="2ECC71"/>
                </a:solidFill>
                <a:latin typeface="Calibri"/>
                <a:ea typeface="Calibri"/>
                <a:cs typeface="Calibri"/>
                <a:sym typeface="Calibri"/>
              </a:rPr>
              <a:t>7</a:t>
            </a:r>
            <a:r>
              <a:rPr b="1" lang="en-US" sz="2970">
                <a:solidFill>
                  <a:srgbClr val="2ECC71"/>
                </a:solidFill>
                <a:latin typeface="Calibri"/>
                <a:ea typeface="Calibri"/>
                <a:cs typeface="Calibri"/>
                <a:sym typeface="Calibri"/>
              </a:rPr>
              <a:t>7</a:t>
            </a:r>
            <a:r>
              <a:rPr b="1" i="0" lang="en-US" sz="2970" u="none" cap="none" strike="noStrike">
                <a:solidFill>
                  <a:srgbClr val="2ECC71"/>
                </a:solidFill>
                <a:latin typeface="Calibri"/>
                <a:ea typeface="Calibri"/>
                <a:cs typeface="Calibri"/>
                <a:sym typeface="Calibri"/>
              </a:rPr>
              <a:t>.8%</a:t>
            </a:r>
            <a:endParaRPr b="0" i="0" sz="2970" u="none" cap="none" strike="noStrike">
              <a:solidFill>
                <a:schemeClr val="dk1"/>
              </a:solidFill>
              <a:latin typeface="Calibri"/>
              <a:ea typeface="Calibri"/>
              <a:cs typeface="Calibri"/>
              <a:sym typeface="Calibri"/>
            </a:endParaRPr>
          </a:p>
        </p:txBody>
      </p:sp>
      <p:sp>
        <p:nvSpPr>
          <p:cNvPr id="162" name="Google Shape;162;p24"/>
          <p:cNvSpPr/>
          <p:nvPr/>
        </p:nvSpPr>
        <p:spPr>
          <a:xfrm>
            <a:off x="5624073" y="1732543"/>
            <a:ext cx="1616400" cy="14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9BB5"/>
              </a:buClr>
              <a:buSzPts val="636"/>
              <a:buFont typeface="Calibri"/>
              <a:buNone/>
            </a:pPr>
            <a:r>
              <a:rPr lang="en-US" sz="636">
                <a:solidFill>
                  <a:schemeClr val="dk1"/>
                </a:solidFill>
                <a:latin typeface="Calibri"/>
                <a:ea typeface="Calibri"/>
                <a:cs typeface="Calibri"/>
                <a:sym typeface="Calibri"/>
              </a:rPr>
              <a:t>Precision</a:t>
            </a:r>
            <a:endParaRPr b="0" i="0" sz="636" u="none" cap="none" strike="noStrike">
              <a:solidFill>
                <a:schemeClr val="dk1"/>
              </a:solidFill>
              <a:latin typeface="Calibri"/>
              <a:ea typeface="Calibri"/>
              <a:cs typeface="Calibri"/>
              <a:sym typeface="Calibri"/>
            </a:endParaRPr>
          </a:p>
        </p:txBody>
      </p:sp>
      <p:sp>
        <p:nvSpPr>
          <p:cNvPr id="163" name="Google Shape;163;p24"/>
          <p:cNvSpPr/>
          <p:nvPr/>
        </p:nvSpPr>
        <p:spPr>
          <a:xfrm>
            <a:off x="5624073" y="1900662"/>
            <a:ext cx="1616400" cy="9600"/>
          </a:xfrm>
          <a:prstGeom prst="rect">
            <a:avLst/>
          </a:prstGeom>
          <a:solidFill>
            <a:srgbClr val="223344"/>
          </a:solidFill>
          <a:ln cap="flat" cmpd="sng" w="8975">
            <a:solidFill>
              <a:srgbClr val="223344"/>
            </a:solidFill>
            <a:prstDash val="solid"/>
            <a:round/>
            <a:headEnd len="sm" w="sm" type="none"/>
            <a:tailEnd len="sm" w="sm" type="none"/>
          </a:ln>
        </p:spPr>
        <p:txBody>
          <a:bodyPr anchorCtr="0" anchor="ctr" bIns="64650" lIns="64650" spcFirstLastPara="1" rIns="64650" wrap="square" tIns="64650">
            <a:noAutofit/>
          </a:bodyPr>
          <a:lstStyle/>
          <a:p>
            <a:pPr indent="0" lvl="0" marL="0" rtl="0" algn="l">
              <a:spcBef>
                <a:spcPts val="0"/>
              </a:spcBef>
              <a:spcAft>
                <a:spcPts val="0"/>
              </a:spcAft>
              <a:buNone/>
            </a:pPr>
            <a:r>
              <a:t/>
            </a:r>
            <a:endParaRPr/>
          </a:p>
        </p:txBody>
      </p:sp>
      <p:sp>
        <p:nvSpPr>
          <p:cNvPr id="164" name="Google Shape;164;p24"/>
          <p:cNvSpPr/>
          <p:nvPr/>
        </p:nvSpPr>
        <p:spPr>
          <a:xfrm>
            <a:off x="5624073" y="1932992"/>
            <a:ext cx="1648800" cy="71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78">
              <a:solidFill>
                <a:schemeClr val="dk1"/>
              </a:solidFill>
              <a:latin typeface="Calibri"/>
              <a:ea typeface="Calibri"/>
              <a:cs typeface="Calibri"/>
              <a:sym typeface="Calibri"/>
            </a:endParaRPr>
          </a:p>
          <a:p>
            <a:pPr indent="0" lvl="0" marL="0" marR="0" rtl="0" algn="l">
              <a:spcBef>
                <a:spcPts val="0"/>
              </a:spcBef>
              <a:spcAft>
                <a:spcPts val="0"/>
              </a:spcAft>
              <a:buNone/>
            </a:pPr>
            <a:r>
              <a:rPr b="1" lang="en-US" sz="778">
                <a:solidFill>
                  <a:schemeClr val="dk1"/>
                </a:solidFill>
                <a:latin typeface="Calibri"/>
                <a:ea typeface="Calibri"/>
                <a:cs typeface="Calibri"/>
                <a:sym typeface="Calibri"/>
              </a:rPr>
              <a:t>F1 score</a:t>
            </a:r>
            <a:r>
              <a:rPr b="0" i="0" lang="en-US" sz="778" u="none" cap="none" strike="noStrike">
                <a:solidFill>
                  <a:schemeClr val="dk1"/>
                </a:solidFill>
                <a:latin typeface="Calibri"/>
                <a:ea typeface="Calibri"/>
                <a:cs typeface="Calibri"/>
                <a:sym typeface="Calibri"/>
              </a:rPr>
              <a:t>: 7</a:t>
            </a:r>
            <a:r>
              <a:rPr lang="en-US" sz="778">
                <a:solidFill>
                  <a:schemeClr val="dk1"/>
                </a:solidFill>
                <a:latin typeface="Calibri"/>
                <a:ea typeface="Calibri"/>
                <a:cs typeface="Calibri"/>
                <a:sym typeface="Calibri"/>
              </a:rPr>
              <a:t>2</a:t>
            </a:r>
            <a:r>
              <a:rPr b="0" i="0" lang="en-US" sz="778" u="none" cap="none" strike="noStrike">
                <a:solidFill>
                  <a:schemeClr val="dk1"/>
                </a:solidFill>
                <a:latin typeface="Calibri"/>
                <a:ea typeface="Calibri"/>
                <a:cs typeface="Calibri"/>
                <a:sym typeface="Calibri"/>
              </a:rPr>
              <a:t>.</a:t>
            </a:r>
            <a:r>
              <a:rPr lang="en-US" sz="778">
                <a:solidFill>
                  <a:schemeClr val="dk1"/>
                </a:solidFill>
                <a:latin typeface="Calibri"/>
                <a:ea typeface="Calibri"/>
                <a:cs typeface="Calibri"/>
                <a:sym typeface="Calibri"/>
              </a:rPr>
              <a:t>9</a:t>
            </a:r>
            <a:r>
              <a:rPr b="0" i="0" lang="en-US" sz="778" u="none" cap="none" strike="noStrike">
                <a:solidFill>
                  <a:schemeClr val="dk1"/>
                </a:solidFill>
                <a:latin typeface="Calibri"/>
                <a:ea typeface="Calibri"/>
                <a:cs typeface="Calibri"/>
                <a:sym typeface="Calibri"/>
              </a:rPr>
              <a:t>%  |  </a:t>
            </a:r>
            <a:r>
              <a:rPr b="1" i="0" lang="en-US" sz="778" u="none" cap="none" strike="noStrike">
                <a:solidFill>
                  <a:schemeClr val="dk1"/>
                </a:solidFill>
                <a:latin typeface="Calibri"/>
                <a:ea typeface="Calibri"/>
                <a:cs typeface="Calibri"/>
                <a:sym typeface="Calibri"/>
              </a:rPr>
              <a:t>Recall</a:t>
            </a:r>
            <a:r>
              <a:rPr b="0" i="0" lang="en-US" sz="778" u="none" cap="none" strike="noStrike">
                <a:solidFill>
                  <a:schemeClr val="dk1"/>
                </a:solidFill>
                <a:latin typeface="Calibri"/>
                <a:ea typeface="Calibri"/>
                <a:cs typeface="Calibri"/>
                <a:sym typeface="Calibri"/>
              </a:rPr>
              <a:t>: </a:t>
            </a:r>
            <a:r>
              <a:rPr lang="en-US" sz="778">
                <a:solidFill>
                  <a:schemeClr val="dk1"/>
                </a:solidFill>
                <a:latin typeface="Calibri"/>
                <a:ea typeface="Calibri"/>
                <a:cs typeface="Calibri"/>
                <a:sym typeface="Calibri"/>
              </a:rPr>
              <a:t>68.13</a:t>
            </a:r>
            <a:r>
              <a:rPr b="0" i="0" lang="en-US" sz="778" u="none" cap="none" strike="noStrike">
                <a:solidFill>
                  <a:schemeClr val="dk1"/>
                </a:solidFill>
                <a:latin typeface="Calibri"/>
                <a:ea typeface="Calibri"/>
                <a:cs typeface="Calibri"/>
                <a:sym typeface="Calibri"/>
              </a:rPr>
              <a:t>%</a:t>
            </a:r>
            <a:endParaRPr b="0" i="0" sz="778"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778" u="none" cap="none" strike="noStrike">
                <a:solidFill>
                  <a:schemeClr val="dk1"/>
                </a:solidFill>
                <a:latin typeface="Calibri"/>
                <a:ea typeface="Calibri"/>
                <a:cs typeface="Calibri"/>
                <a:sym typeface="Calibri"/>
              </a:rPr>
              <a:t>Best generalization across datasets</a:t>
            </a:r>
            <a:endParaRPr b="0" i="0" sz="778" u="none" cap="none" strike="noStrike">
              <a:solidFill>
                <a:schemeClr val="dk1"/>
              </a:solidFill>
              <a:latin typeface="Calibri"/>
              <a:ea typeface="Calibri"/>
              <a:cs typeface="Calibri"/>
              <a:sym typeface="Calibri"/>
            </a:endParaRPr>
          </a:p>
        </p:txBody>
      </p:sp>
      <p:pic>
        <p:nvPicPr>
          <p:cNvPr id="165" name="Google Shape;165;p24"/>
          <p:cNvPicPr preferRelativeResize="0"/>
          <p:nvPr/>
        </p:nvPicPr>
        <p:blipFill rotWithShape="1">
          <a:blip r:embed="rId4">
            <a:alphaModFix/>
          </a:blip>
          <a:srcRect b="2997" l="0" r="0" t="0"/>
          <a:stretch/>
        </p:blipFill>
        <p:spPr>
          <a:xfrm>
            <a:off x="2347925" y="2778378"/>
            <a:ext cx="4202400" cy="2174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457075" y="400061"/>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Progression - Classification</a:t>
            </a:r>
            <a:endParaRPr/>
          </a:p>
        </p:txBody>
      </p:sp>
      <p:sp>
        <p:nvSpPr>
          <p:cNvPr id="171" name="Google Shape;171;p25"/>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pic>
        <p:nvPicPr>
          <p:cNvPr descr="preencoded.png" id="172" name="Google Shape;172;p25"/>
          <p:cNvPicPr preferRelativeResize="0"/>
          <p:nvPr/>
        </p:nvPicPr>
        <p:blipFill rotWithShape="1">
          <a:blip r:embed="rId3">
            <a:alphaModFix/>
          </a:blip>
          <a:srcRect b="0" l="0" r="0" t="0"/>
          <a:stretch/>
        </p:blipFill>
        <p:spPr>
          <a:xfrm>
            <a:off x="2539494" y="2427807"/>
            <a:ext cx="191381" cy="191381"/>
          </a:xfrm>
          <a:prstGeom prst="rect">
            <a:avLst/>
          </a:prstGeom>
          <a:noFill/>
          <a:ln>
            <a:noFill/>
          </a:ln>
        </p:spPr>
      </p:pic>
      <p:sp>
        <p:nvSpPr>
          <p:cNvPr id="173" name="Google Shape;173;p25"/>
          <p:cNvSpPr/>
          <p:nvPr/>
        </p:nvSpPr>
        <p:spPr>
          <a:xfrm>
            <a:off x="591473" y="1539249"/>
            <a:ext cx="1914000" cy="1982100"/>
          </a:xfrm>
          <a:prstGeom prst="rect">
            <a:avLst/>
          </a:prstGeom>
          <a:noFill/>
          <a:ln cap="flat" cmpd="sng" w="14225">
            <a:solidFill>
              <a:srgbClr val="F0C040"/>
            </a:solidFill>
            <a:prstDash val="solid"/>
            <a:round/>
            <a:headEnd len="sm" w="sm" type="none"/>
            <a:tailEnd len="sm" w="sm" type="none"/>
          </a:ln>
          <a:effectLst>
            <a:outerShdw blurRad="75946" rotWithShape="0" algn="bl" dir="8100000" dist="28480">
              <a:srgbClr val="000000">
                <a:alpha val="30199"/>
              </a:srgbClr>
            </a:outerShdw>
          </a:effectLst>
        </p:spPr>
        <p:txBody>
          <a:bodyPr anchorCtr="0" anchor="ctr" bIns="68350" lIns="68350" spcFirstLastPara="1" rIns="68350" wrap="square" tIns="68350">
            <a:noAutofit/>
          </a:bodyPr>
          <a:lstStyle/>
          <a:p>
            <a:pPr indent="0" lvl="0" marL="0" rtl="0" algn="l">
              <a:spcBef>
                <a:spcPts val="0"/>
              </a:spcBef>
              <a:spcAft>
                <a:spcPts val="0"/>
              </a:spcAft>
              <a:buNone/>
            </a:pPr>
            <a:r>
              <a:t/>
            </a:r>
            <a:endParaRPr/>
          </a:p>
        </p:txBody>
      </p:sp>
      <p:sp>
        <p:nvSpPr>
          <p:cNvPr id="174" name="Google Shape;174;p25"/>
          <p:cNvSpPr/>
          <p:nvPr/>
        </p:nvSpPr>
        <p:spPr>
          <a:xfrm>
            <a:off x="690736" y="1562551"/>
            <a:ext cx="1647000" cy="26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73"/>
              <a:buFont typeface="Calibri"/>
              <a:buNone/>
            </a:pPr>
            <a:r>
              <a:rPr b="1" lang="en-US" sz="1173">
                <a:solidFill>
                  <a:schemeClr val="dk1"/>
                </a:solidFill>
                <a:latin typeface="Calibri"/>
                <a:ea typeface="Calibri"/>
                <a:cs typeface="Calibri"/>
                <a:sym typeface="Calibri"/>
              </a:rPr>
              <a:t>BioCLIP 2</a:t>
            </a:r>
            <a:endParaRPr b="0" i="0" sz="1173" u="none" cap="none" strike="noStrike">
              <a:solidFill>
                <a:schemeClr val="dk1"/>
              </a:solidFill>
              <a:latin typeface="Calibri"/>
              <a:ea typeface="Calibri"/>
              <a:cs typeface="Calibri"/>
              <a:sym typeface="Calibri"/>
            </a:endParaRPr>
          </a:p>
        </p:txBody>
      </p:sp>
      <p:sp>
        <p:nvSpPr>
          <p:cNvPr id="175" name="Google Shape;175;p25"/>
          <p:cNvSpPr/>
          <p:nvPr/>
        </p:nvSpPr>
        <p:spPr>
          <a:xfrm>
            <a:off x="694001" y="1830687"/>
            <a:ext cx="1742700" cy="15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9BB5"/>
              </a:buClr>
              <a:buSzPts val="710"/>
              <a:buFont typeface="Calibri"/>
              <a:buNone/>
            </a:pPr>
            <a:r>
              <a:rPr b="0" i="1" lang="en-US" sz="710" u="none" cap="none" strike="noStrike">
                <a:solidFill>
                  <a:srgbClr val="182B49"/>
                </a:solidFill>
                <a:latin typeface="Calibri"/>
                <a:ea typeface="Calibri"/>
                <a:cs typeface="Calibri"/>
                <a:sym typeface="Calibri"/>
              </a:rPr>
              <a:t>Baseline transformer detector</a:t>
            </a:r>
            <a:endParaRPr b="0" i="0" sz="710" u="none" cap="none" strike="noStrike">
              <a:solidFill>
                <a:srgbClr val="182B49"/>
              </a:solidFill>
              <a:latin typeface="Calibri"/>
              <a:ea typeface="Calibri"/>
              <a:cs typeface="Calibri"/>
              <a:sym typeface="Calibri"/>
            </a:endParaRPr>
          </a:p>
        </p:txBody>
      </p:sp>
      <p:sp>
        <p:nvSpPr>
          <p:cNvPr id="176" name="Google Shape;176;p25"/>
          <p:cNvSpPr/>
          <p:nvPr/>
        </p:nvSpPr>
        <p:spPr>
          <a:xfrm>
            <a:off x="694001" y="2072384"/>
            <a:ext cx="1708500" cy="4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C040"/>
              </a:buClr>
              <a:buSzPts val="3139"/>
              <a:buFont typeface="Calibri"/>
              <a:buNone/>
            </a:pPr>
            <a:r>
              <a:rPr b="1" i="0" lang="en-US" sz="3139" u="none" cap="none" strike="noStrike">
                <a:solidFill>
                  <a:srgbClr val="F0C040"/>
                </a:solidFill>
                <a:latin typeface="Calibri"/>
                <a:ea typeface="Calibri"/>
                <a:cs typeface="Calibri"/>
                <a:sym typeface="Calibri"/>
              </a:rPr>
              <a:t>4</a:t>
            </a:r>
            <a:r>
              <a:rPr b="1" lang="en-US" sz="3140">
                <a:solidFill>
                  <a:srgbClr val="F0C040"/>
                </a:solidFill>
                <a:latin typeface="Calibri"/>
                <a:ea typeface="Calibri"/>
                <a:cs typeface="Calibri"/>
                <a:sym typeface="Calibri"/>
              </a:rPr>
              <a:t>9.66</a:t>
            </a:r>
            <a:r>
              <a:rPr b="1" i="0" lang="en-US" sz="3139" u="none" cap="none" strike="noStrike">
                <a:solidFill>
                  <a:srgbClr val="F0C040"/>
                </a:solidFill>
                <a:latin typeface="Calibri"/>
                <a:ea typeface="Calibri"/>
                <a:cs typeface="Calibri"/>
                <a:sym typeface="Calibri"/>
              </a:rPr>
              <a:t>%</a:t>
            </a:r>
            <a:endParaRPr b="0" i="0" sz="3139" u="none" cap="none" strike="noStrike">
              <a:solidFill>
                <a:schemeClr val="dk1"/>
              </a:solidFill>
              <a:latin typeface="Calibri"/>
              <a:ea typeface="Calibri"/>
              <a:cs typeface="Calibri"/>
              <a:sym typeface="Calibri"/>
            </a:endParaRPr>
          </a:p>
        </p:txBody>
      </p:sp>
      <p:sp>
        <p:nvSpPr>
          <p:cNvPr id="177" name="Google Shape;177;p25"/>
          <p:cNvSpPr/>
          <p:nvPr/>
        </p:nvSpPr>
        <p:spPr>
          <a:xfrm>
            <a:off x="694001" y="2509828"/>
            <a:ext cx="1708500" cy="15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9BB5"/>
              </a:buClr>
              <a:buSzPts val="673"/>
              <a:buFont typeface="Calibri"/>
              <a:buNone/>
            </a:pPr>
            <a:r>
              <a:rPr lang="en-US" sz="673">
                <a:solidFill>
                  <a:schemeClr val="dk1"/>
                </a:solidFill>
                <a:latin typeface="Calibri"/>
                <a:ea typeface="Calibri"/>
                <a:cs typeface="Calibri"/>
                <a:sym typeface="Calibri"/>
              </a:rPr>
              <a:t>Accuracy</a:t>
            </a:r>
            <a:endParaRPr b="0" i="0" sz="673" u="none" cap="none" strike="noStrike">
              <a:solidFill>
                <a:schemeClr val="dk1"/>
              </a:solidFill>
              <a:latin typeface="Calibri"/>
              <a:ea typeface="Calibri"/>
              <a:cs typeface="Calibri"/>
              <a:sym typeface="Calibri"/>
            </a:endParaRPr>
          </a:p>
        </p:txBody>
      </p:sp>
      <p:sp>
        <p:nvSpPr>
          <p:cNvPr id="178" name="Google Shape;178;p25"/>
          <p:cNvSpPr/>
          <p:nvPr/>
        </p:nvSpPr>
        <p:spPr>
          <a:xfrm>
            <a:off x="694001" y="2687540"/>
            <a:ext cx="1708500" cy="10500"/>
          </a:xfrm>
          <a:prstGeom prst="rect">
            <a:avLst/>
          </a:prstGeom>
          <a:solidFill>
            <a:srgbClr val="223344"/>
          </a:solidFill>
          <a:ln cap="flat" cmpd="sng" w="9500">
            <a:solidFill>
              <a:srgbClr val="223344"/>
            </a:solidFill>
            <a:prstDash val="solid"/>
            <a:round/>
            <a:headEnd len="sm" w="sm" type="none"/>
            <a:tailEnd len="sm" w="sm" type="none"/>
          </a:ln>
        </p:spPr>
        <p:txBody>
          <a:bodyPr anchorCtr="0" anchor="ctr" bIns="68350" lIns="68350" spcFirstLastPara="1" rIns="68350" wrap="square" tIns="68350">
            <a:noAutofit/>
          </a:bodyPr>
          <a:lstStyle/>
          <a:p>
            <a:pPr indent="0" lvl="0" marL="0" rtl="0" algn="l">
              <a:spcBef>
                <a:spcPts val="0"/>
              </a:spcBef>
              <a:spcAft>
                <a:spcPts val="0"/>
              </a:spcAft>
              <a:buNone/>
            </a:pPr>
            <a:r>
              <a:t/>
            </a:r>
            <a:endParaRPr/>
          </a:p>
        </p:txBody>
      </p:sp>
      <p:sp>
        <p:nvSpPr>
          <p:cNvPr id="179" name="Google Shape;179;p25"/>
          <p:cNvSpPr/>
          <p:nvPr/>
        </p:nvSpPr>
        <p:spPr>
          <a:xfrm>
            <a:off x="694001" y="2721715"/>
            <a:ext cx="1742700" cy="7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22">
                <a:solidFill>
                  <a:schemeClr val="dk1"/>
                </a:solidFill>
                <a:latin typeface="Calibri"/>
                <a:ea typeface="Calibri"/>
                <a:cs typeface="Calibri"/>
                <a:sym typeface="Calibri"/>
              </a:rPr>
              <a:t>No region filtering: classifies from broad species pool</a:t>
            </a:r>
            <a:endParaRPr sz="822">
              <a:solidFill>
                <a:schemeClr val="dk1"/>
              </a:solidFill>
              <a:latin typeface="Calibri"/>
              <a:ea typeface="Calibri"/>
              <a:cs typeface="Calibri"/>
              <a:sym typeface="Calibri"/>
            </a:endParaRPr>
          </a:p>
          <a:p>
            <a:pPr indent="0" lvl="0" marL="0" rtl="0" algn="l">
              <a:spcBef>
                <a:spcPts val="0"/>
              </a:spcBef>
              <a:spcAft>
                <a:spcPts val="0"/>
              </a:spcAft>
              <a:buNone/>
            </a:pPr>
            <a:r>
              <a:t/>
            </a:r>
            <a:endParaRPr sz="822">
              <a:solidFill>
                <a:schemeClr val="dk1"/>
              </a:solidFill>
              <a:latin typeface="Calibri"/>
              <a:ea typeface="Calibri"/>
              <a:cs typeface="Calibri"/>
              <a:sym typeface="Calibri"/>
            </a:endParaRPr>
          </a:p>
          <a:p>
            <a:pPr indent="0" lvl="0" marL="0" rtl="0" algn="l">
              <a:spcBef>
                <a:spcPts val="0"/>
              </a:spcBef>
              <a:spcAft>
                <a:spcPts val="0"/>
              </a:spcAft>
              <a:buNone/>
            </a:pPr>
            <a:r>
              <a:rPr lang="en-US" sz="822">
                <a:solidFill>
                  <a:schemeClr val="dk1"/>
                </a:solidFill>
                <a:latin typeface="Calibri"/>
                <a:ea typeface="Calibri"/>
                <a:cs typeface="Calibri"/>
                <a:sym typeface="Calibri"/>
              </a:rPr>
              <a:t>Generic "fish" class scored 0% F1, masking stronger per-species results</a:t>
            </a:r>
            <a:endParaRPr sz="822">
              <a:solidFill>
                <a:schemeClr val="dk1"/>
              </a:solidFill>
              <a:latin typeface="Calibri"/>
              <a:ea typeface="Calibri"/>
              <a:cs typeface="Calibri"/>
              <a:sym typeface="Calibri"/>
            </a:endParaRPr>
          </a:p>
          <a:p>
            <a:pPr indent="0" lvl="0" marL="0" rtl="0" algn="l">
              <a:spcBef>
                <a:spcPts val="0"/>
              </a:spcBef>
              <a:spcAft>
                <a:spcPts val="0"/>
              </a:spcAft>
              <a:buNone/>
            </a:pPr>
            <a:r>
              <a:t/>
            </a:r>
            <a:endParaRPr sz="822">
              <a:solidFill>
                <a:schemeClr val="dk1"/>
              </a:solidFill>
              <a:latin typeface="Calibri"/>
              <a:ea typeface="Calibri"/>
              <a:cs typeface="Calibri"/>
              <a:sym typeface="Calibri"/>
            </a:endParaRPr>
          </a:p>
          <a:p>
            <a:pPr indent="0" lvl="0" marL="0" marR="0" rtl="0" algn="l">
              <a:spcBef>
                <a:spcPts val="0"/>
              </a:spcBef>
              <a:spcAft>
                <a:spcPts val="0"/>
              </a:spcAft>
              <a:buNone/>
            </a:pPr>
            <a:r>
              <a:t/>
            </a:r>
            <a:endParaRPr sz="822">
              <a:solidFill>
                <a:schemeClr val="dk1"/>
              </a:solidFill>
              <a:latin typeface="Calibri"/>
              <a:ea typeface="Calibri"/>
              <a:cs typeface="Calibri"/>
              <a:sym typeface="Calibri"/>
            </a:endParaRPr>
          </a:p>
        </p:txBody>
      </p:sp>
      <p:sp>
        <p:nvSpPr>
          <p:cNvPr id="180" name="Google Shape;180;p25"/>
          <p:cNvSpPr/>
          <p:nvPr/>
        </p:nvSpPr>
        <p:spPr>
          <a:xfrm>
            <a:off x="2812901" y="1539249"/>
            <a:ext cx="1914000" cy="1982100"/>
          </a:xfrm>
          <a:prstGeom prst="rect">
            <a:avLst/>
          </a:prstGeom>
          <a:noFill/>
          <a:ln cap="flat" cmpd="sng" w="14225">
            <a:solidFill>
              <a:srgbClr val="2ECC71"/>
            </a:solidFill>
            <a:prstDash val="solid"/>
            <a:round/>
            <a:headEnd len="sm" w="sm" type="none"/>
            <a:tailEnd len="sm" w="sm" type="none"/>
          </a:ln>
          <a:effectLst>
            <a:outerShdw blurRad="75946" rotWithShape="0" algn="bl" dir="8100000" dist="28480">
              <a:srgbClr val="000000">
                <a:alpha val="30199"/>
              </a:srgbClr>
            </a:outerShdw>
          </a:effectLst>
        </p:spPr>
        <p:txBody>
          <a:bodyPr anchorCtr="0" anchor="ctr" bIns="68350" lIns="68350" spcFirstLastPara="1" rIns="68350" wrap="square" tIns="68350">
            <a:noAutofit/>
          </a:bodyPr>
          <a:lstStyle/>
          <a:p>
            <a:pPr indent="0" lvl="0" marL="0" rtl="0" algn="l">
              <a:spcBef>
                <a:spcPts val="0"/>
              </a:spcBef>
              <a:spcAft>
                <a:spcPts val="0"/>
              </a:spcAft>
              <a:buNone/>
            </a:pPr>
            <a:r>
              <a:t/>
            </a:r>
            <a:endParaRPr sz="1046"/>
          </a:p>
        </p:txBody>
      </p:sp>
      <p:sp>
        <p:nvSpPr>
          <p:cNvPr id="181" name="Google Shape;181;p25"/>
          <p:cNvSpPr/>
          <p:nvPr/>
        </p:nvSpPr>
        <p:spPr>
          <a:xfrm>
            <a:off x="2881252" y="1562551"/>
            <a:ext cx="1647000" cy="26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73"/>
              <a:buFont typeface="Calibri"/>
              <a:buNone/>
            </a:pPr>
            <a:r>
              <a:rPr b="1" lang="en-US" sz="1173">
                <a:solidFill>
                  <a:schemeClr val="dk1"/>
                </a:solidFill>
                <a:latin typeface="Calibri"/>
                <a:ea typeface="Calibri"/>
                <a:cs typeface="Calibri"/>
                <a:sym typeface="Calibri"/>
              </a:rPr>
              <a:t>BioCLIP 2.5</a:t>
            </a:r>
            <a:endParaRPr b="0" i="0" sz="1173" u="none" cap="none" strike="noStrike">
              <a:solidFill>
                <a:schemeClr val="dk1"/>
              </a:solidFill>
              <a:latin typeface="Calibri"/>
              <a:ea typeface="Calibri"/>
              <a:cs typeface="Calibri"/>
              <a:sym typeface="Calibri"/>
            </a:endParaRPr>
          </a:p>
        </p:txBody>
      </p:sp>
      <p:sp>
        <p:nvSpPr>
          <p:cNvPr id="182" name="Google Shape;182;p25"/>
          <p:cNvSpPr/>
          <p:nvPr/>
        </p:nvSpPr>
        <p:spPr>
          <a:xfrm>
            <a:off x="2915428" y="1830687"/>
            <a:ext cx="1742700" cy="15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9BB5"/>
              </a:buClr>
              <a:buSzPts val="710"/>
              <a:buFont typeface="Calibri"/>
              <a:buNone/>
            </a:pPr>
            <a:r>
              <a:t/>
            </a:r>
            <a:endParaRPr b="0" i="0" sz="710" u="none" cap="none" strike="noStrike">
              <a:solidFill>
                <a:schemeClr val="dk1"/>
              </a:solidFill>
              <a:latin typeface="Calibri"/>
              <a:ea typeface="Calibri"/>
              <a:cs typeface="Calibri"/>
              <a:sym typeface="Calibri"/>
            </a:endParaRPr>
          </a:p>
        </p:txBody>
      </p:sp>
      <p:sp>
        <p:nvSpPr>
          <p:cNvPr id="183" name="Google Shape;183;p25"/>
          <p:cNvSpPr/>
          <p:nvPr/>
        </p:nvSpPr>
        <p:spPr>
          <a:xfrm>
            <a:off x="2915428" y="2072384"/>
            <a:ext cx="1708500" cy="4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CC71"/>
              </a:buClr>
              <a:buSzPts val="3139"/>
              <a:buFont typeface="Calibri"/>
              <a:buNone/>
            </a:pPr>
            <a:r>
              <a:rPr b="1" lang="en-US" sz="3139">
                <a:solidFill>
                  <a:srgbClr val="2ECC71"/>
                </a:solidFill>
                <a:latin typeface="Calibri"/>
                <a:ea typeface="Calibri"/>
                <a:cs typeface="Calibri"/>
                <a:sym typeface="Calibri"/>
              </a:rPr>
              <a:t>83</a:t>
            </a:r>
            <a:r>
              <a:rPr b="1" i="0" lang="en-US" sz="3139" u="none" cap="none" strike="noStrike">
                <a:solidFill>
                  <a:srgbClr val="2ECC71"/>
                </a:solidFill>
                <a:latin typeface="Calibri"/>
                <a:ea typeface="Calibri"/>
                <a:cs typeface="Calibri"/>
                <a:sym typeface="Calibri"/>
              </a:rPr>
              <a:t>.</a:t>
            </a:r>
            <a:r>
              <a:rPr b="1" lang="en-US" sz="3139">
                <a:solidFill>
                  <a:srgbClr val="2ECC71"/>
                </a:solidFill>
                <a:latin typeface="Calibri"/>
                <a:ea typeface="Calibri"/>
                <a:cs typeface="Calibri"/>
                <a:sym typeface="Calibri"/>
              </a:rPr>
              <a:t>33</a:t>
            </a:r>
            <a:r>
              <a:rPr b="1" i="0" lang="en-US" sz="3139" u="none" cap="none" strike="noStrike">
                <a:solidFill>
                  <a:srgbClr val="2ECC71"/>
                </a:solidFill>
                <a:latin typeface="Calibri"/>
                <a:ea typeface="Calibri"/>
                <a:cs typeface="Calibri"/>
                <a:sym typeface="Calibri"/>
              </a:rPr>
              <a:t>%</a:t>
            </a:r>
            <a:endParaRPr b="0" i="0" sz="3139" u="none" cap="none" strike="noStrike">
              <a:solidFill>
                <a:schemeClr val="dk1"/>
              </a:solidFill>
              <a:latin typeface="Calibri"/>
              <a:ea typeface="Calibri"/>
              <a:cs typeface="Calibri"/>
              <a:sym typeface="Calibri"/>
            </a:endParaRPr>
          </a:p>
        </p:txBody>
      </p:sp>
      <p:sp>
        <p:nvSpPr>
          <p:cNvPr id="184" name="Google Shape;184;p25"/>
          <p:cNvSpPr/>
          <p:nvPr/>
        </p:nvSpPr>
        <p:spPr>
          <a:xfrm>
            <a:off x="2915428" y="2509828"/>
            <a:ext cx="1708500" cy="15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9BB5"/>
              </a:buClr>
              <a:buSzPts val="673"/>
              <a:buFont typeface="Calibri"/>
              <a:buNone/>
            </a:pPr>
            <a:r>
              <a:rPr lang="en-US" sz="673">
                <a:solidFill>
                  <a:schemeClr val="dk1"/>
                </a:solidFill>
                <a:latin typeface="Calibri"/>
                <a:ea typeface="Calibri"/>
                <a:cs typeface="Calibri"/>
                <a:sym typeface="Calibri"/>
              </a:rPr>
              <a:t>Accuracy</a:t>
            </a:r>
            <a:endParaRPr b="0" i="0" sz="673" u="none" cap="none" strike="noStrike">
              <a:solidFill>
                <a:schemeClr val="dk1"/>
              </a:solidFill>
              <a:latin typeface="Calibri"/>
              <a:ea typeface="Calibri"/>
              <a:cs typeface="Calibri"/>
              <a:sym typeface="Calibri"/>
            </a:endParaRPr>
          </a:p>
        </p:txBody>
      </p:sp>
      <p:sp>
        <p:nvSpPr>
          <p:cNvPr id="185" name="Google Shape;185;p25"/>
          <p:cNvSpPr/>
          <p:nvPr/>
        </p:nvSpPr>
        <p:spPr>
          <a:xfrm>
            <a:off x="2915428" y="2687540"/>
            <a:ext cx="1708500" cy="10500"/>
          </a:xfrm>
          <a:prstGeom prst="rect">
            <a:avLst/>
          </a:prstGeom>
          <a:solidFill>
            <a:srgbClr val="223344"/>
          </a:solidFill>
          <a:ln cap="flat" cmpd="sng" w="9500">
            <a:solidFill>
              <a:srgbClr val="223344"/>
            </a:solidFill>
            <a:prstDash val="solid"/>
            <a:round/>
            <a:headEnd len="sm" w="sm" type="none"/>
            <a:tailEnd len="sm" w="sm" type="none"/>
          </a:ln>
        </p:spPr>
        <p:txBody>
          <a:bodyPr anchorCtr="0" anchor="ctr" bIns="68350" lIns="68350" spcFirstLastPara="1" rIns="68350" wrap="square" tIns="68350">
            <a:noAutofit/>
          </a:bodyPr>
          <a:lstStyle/>
          <a:p>
            <a:pPr indent="0" lvl="0" marL="0" rtl="0" algn="l">
              <a:spcBef>
                <a:spcPts val="0"/>
              </a:spcBef>
              <a:spcAft>
                <a:spcPts val="0"/>
              </a:spcAft>
              <a:buNone/>
            </a:pPr>
            <a:r>
              <a:t/>
            </a:r>
            <a:endParaRPr/>
          </a:p>
        </p:txBody>
      </p:sp>
      <p:sp>
        <p:nvSpPr>
          <p:cNvPr id="186" name="Google Shape;186;p25"/>
          <p:cNvSpPr/>
          <p:nvPr/>
        </p:nvSpPr>
        <p:spPr>
          <a:xfrm>
            <a:off x="2915428" y="2721715"/>
            <a:ext cx="1742700" cy="7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22">
                <a:solidFill>
                  <a:schemeClr val="dk1"/>
                </a:solidFill>
                <a:latin typeface="Calibri"/>
                <a:ea typeface="Calibri"/>
                <a:cs typeface="Calibri"/>
                <a:sym typeface="Calibri"/>
              </a:rPr>
              <a:t>Region-constrained to top-25 species per location (Moorea, Fiji, Thailand)</a:t>
            </a:r>
            <a:endParaRPr sz="822">
              <a:solidFill>
                <a:schemeClr val="dk1"/>
              </a:solidFill>
              <a:latin typeface="Calibri"/>
              <a:ea typeface="Calibri"/>
              <a:cs typeface="Calibri"/>
              <a:sym typeface="Calibri"/>
            </a:endParaRPr>
          </a:p>
          <a:p>
            <a:pPr indent="0" lvl="0" marL="0" rtl="0" algn="l">
              <a:spcBef>
                <a:spcPts val="0"/>
              </a:spcBef>
              <a:spcAft>
                <a:spcPts val="0"/>
              </a:spcAft>
              <a:buNone/>
            </a:pPr>
            <a:r>
              <a:t/>
            </a:r>
            <a:endParaRPr sz="822">
              <a:solidFill>
                <a:schemeClr val="dk1"/>
              </a:solidFill>
              <a:latin typeface="Calibri"/>
              <a:ea typeface="Calibri"/>
              <a:cs typeface="Calibri"/>
              <a:sym typeface="Calibri"/>
            </a:endParaRPr>
          </a:p>
        </p:txBody>
      </p:sp>
      <p:cxnSp>
        <p:nvCxnSpPr>
          <p:cNvPr id="187" name="Google Shape;187;p25"/>
          <p:cNvCxnSpPr/>
          <p:nvPr/>
        </p:nvCxnSpPr>
        <p:spPr>
          <a:xfrm>
            <a:off x="5282326" y="1318626"/>
            <a:ext cx="0" cy="2895900"/>
          </a:xfrm>
          <a:prstGeom prst="straightConnector1">
            <a:avLst/>
          </a:prstGeom>
          <a:noFill/>
          <a:ln cap="flat" cmpd="sng" w="7875">
            <a:solidFill>
              <a:srgbClr val="DDDDDD"/>
            </a:solidFill>
            <a:prstDash val="solid"/>
            <a:round/>
            <a:headEnd len="sm" w="sm" type="none"/>
            <a:tailEnd len="sm" w="sm" type="none"/>
          </a:ln>
        </p:spPr>
      </p:cxnSp>
      <p:sp>
        <p:nvSpPr>
          <p:cNvPr id="188" name="Google Shape;188;p25"/>
          <p:cNvSpPr/>
          <p:nvPr/>
        </p:nvSpPr>
        <p:spPr>
          <a:xfrm>
            <a:off x="5339110" y="1233450"/>
            <a:ext cx="2555400" cy="19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807"/>
              <a:buFont typeface="Calibri"/>
              <a:buNone/>
            </a:pPr>
            <a:r>
              <a:rPr b="1" i="0" lang="en-US" sz="807" u="none" cap="none" strike="noStrike">
                <a:solidFill>
                  <a:srgbClr val="333333"/>
                </a:solidFill>
                <a:latin typeface="Calibri"/>
                <a:ea typeface="Calibri"/>
                <a:cs typeface="Calibri"/>
                <a:sym typeface="Calibri"/>
              </a:rPr>
              <a:t>BioCLIP Classification Accuracy</a:t>
            </a:r>
            <a:endParaRPr b="0" i="0" sz="807" u="none" cap="none" strike="noStrike">
              <a:solidFill>
                <a:schemeClr val="dk1"/>
              </a:solidFill>
              <a:latin typeface="Calibri"/>
              <a:ea typeface="Calibri"/>
              <a:cs typeface="Calibri"/>
              <a:sym typeface="Calibri"/>
            </a:endParaRPr>
          </a:p>
        </p:txBody>
      </p:sp>
      <p:pic>
        <p:nvPicPr>
          <p:cNvPr id="189" name="Google Shape;189;p25"/>
          <p:cNvPicPr preferRelativeResize="0"/>
          <p:nvPr/>
        </p:nvPicPr>
        <p:blipFill rotWithShape="1">
          <a:blip r:embed="rId4">
            <a:alphaModFix/>
          </a:blip>
          <a:srcRect b="0" l="0" r="0" t="0"/>
          <a:stretch/>
        </p:blipFill>
        <p:spPr>
          <a:xfrm>
            <a:off x="5339110" y="1432194"/>
            <a:ext cx="2555400" cy="2725500"/>
          </a:xfrm>
          <a:prstGeom prst="rect">
            <a:avLst/>
          </a:prstGeom>
          <a:noFill/>
          <a:ln>
            <a:noFill/>
          </a:ln>
        </p:spPr>
      </p:pic>
      <p:sp>
        <p:nvSpPr>
          <p:cNvPr id="190" name="Google Shape;190;p25"/>
          <p:cNvSpPr/>
          <p:nvPr/>
        </p:nvSpPr>
        <p:spPr>
          <a:xfrm>
            <a:off x="5339110" y="4186221"/>
            <a:ext cx="2555400" cy="1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559"/>
              <a:buFont typeface="Calibri"/>
              <a:buNone/>
            </a:pPr>
            <a:r>
              <a:rPr b="0" i="1" lang="en-US" sz="559" u="none" cap="none" strike="noStrike">
                <a:solidFill>
                  <a:srgbClr val="666666"/>
                </a:solidFill>
                <a:latin typeface="Calibri"/>
                <a:ea typeface="Calibri"/>
                <a:cs typeface="Calibri"/>
                <a:sym typeface="Calibri"/>
              </a:rPr>
              <a:t>Coral Gardeners Dataset</a:t>
            </a:r>
            <a:endParaRPr b="0" i="0" sz="559"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Development</a:t>
            </a:r>
            <a:endParaRPr/>
          </a:p>
        </p:txBody>
      </p:sp>
      <p:sp>
        <p:nvSpPr>
          <p:cNvPr id="196" name="Google Shape;196;p26"/>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97" name="Google Shape;197;p26"/>
          <p:cNvSpPr txBox="1"/>
          <p:nvPr>
            <p:ph idx="1" type="body"/>
          </p:nvPr>
        </p:nvSpPr>
        <p:spPr>
          <a:xfrm>
            <a:off x="486600" y="1105200"/>
            <a:ext cx="8200200" cy="31290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US" sz="1800"/>
              <a:t>What We Did Not Do:</a:t>
            </a:r>
            <a:endParaRPr sz="1800"/>
          </a:p>
          <a:p>
            <a:pPr indent="-342900" lvl="0" marL="457200" rtl="0" algn="l">
              <a:spcBef>
                <a:spcPts val="1200"/>
              </a:spcBef>
              <a:spcAft>
                <a:spcPts val="0"/>
              </a:spcAft>
              <a:buSzPts val="1800"/>
              <a:buChar char="•"/>
            </a:pPr>
            <a:r>
              <a:rPr lang="en-US" sz="1800"/>
              <a:t>GUI User Interface </a:t>
            </a:r>
            <a:endParaRPr sz="1800"/>
          </a:p>
          <a:p>
            <a:pPr indent="-342900" lvl="1" marL="914400" rtl="0" algn="l">
              <a:spcBef>
                <a:spcPts val="0"/>
              </a:spcBef>
              <a:spcAft>
                <a:spcPts val="0"/>
              </a:spcAft>
              <a:buSzPts val="1800"/>
              <a:buChar char="•"/>
            </a:pPr>
            <a:r>
              <a:rPr lang="en-US" sz="1800"/>
              <a:t>Pivot</a:t>
            </a:r>
            <a:endParaRPr sz="1800"/>
          </a:p>
          <a:p>
            <a:pPr indent="-342900" lvl="0" marL="457200" rtl="0" algn="l">
              <a:spcBef>
                <a:spcPts val="0"/>
              </a:spcBef>
              <a:spcAft>
                <a:spcPts val="0"/>
              </a:spcAft>
              <a:buSzPts val="1800"/>
              <a:buChar char="•"/>
            </a:pPr>
            <a:r>
              <a:rPr lang="en-US" sz="1800"/>
              <a:t>Detection of Non-Native or Invasive Species</a:t>
            </a:r>
            <a:endParaRPr sz="1800"/>
          </a:p>
          <a:p>
            <a:pPr indent="-342900" lvl="1" marL="914400" rtl="0" algn="l">
              <a:spcBef>
                <a:spcPts val="0"/>
              </a:spcBef>
              <a:spcAft>
                <a:spcPts val="0"/>
              </a:spcAft>
              <a:buSzPts val="1800"/>
              <a:buChar char="•"/>
            </a:pPr>
            <a:r>
              <a:rPr lang="en-US" sz="1800"/>
              <a:t>Pivot</a:t>
            </a:r>
            <a:endParaRPr sz="1800"/>
          </a:p>
          <a:p>
            <a:pPr indent="-342900" lvl="0" marL="457200" rtl="0" algn="l">
              <a:spcBef>
                <a:spcPts val="0"/>
              </a:spcBef>
              <a:spcAft>
                <a:spcPts val="0"/>
              </a:spcAft>
              <a:buSzPts val="1800"/>
              <a:buChar char="•"/>
            </a:pPr>
            <a:r>
              <a:rPr lang="en-US" sz="1800"/>
              <a:t>Underwater Image Quality through RGB preprocessing</a:t>
            </a:r>
            <a:endParaRPr sz="1800"/>
          </a:p>
          <a:p>
            <a:pPr indent="-342900" lvl="0" marL="457200" rtl="0" algn="l">
              <a:spcBef>
                <a:spcPts val="0"/>
              </a:spcBef>
              <a:spcAft>
                <a:spcPts val="0"/>
              </a:spcAft>
              <a:buSzPts val="1800"/>
              <a:buChar char="•"/>
            </a:pPr>
            <a:r>
              <a:rPr lang="en-US" sz="1800"/>
              <a:t>Fish Camouflage</a:t>
            </a:r>
            <a:endParaRPr sz="1800"/>
          </a:p>
          <a:p>
            <a:pPr indent="0" lvl="0" marL="0" rtl="0" algn="l">
              <a:spcBef>
                <a:spcPts val="1200"/>
              </a:spcBef>
              <a:spcAft>
                <a:spcPts val="0"/>
              </a:spcAft>
              <a:buNone/>
            </a:pPr>
            <a:r>
              <a:t/>
            </a:r>
            <a:endParaRPr sz="1800"/>
          </a:p>
        </p:txBody>
      </p:sp>
      <p:pic>
        <p:nvPicPr>
          <p:cNvPr id="198" name="Google Shape;198;p26" title="09_14_2023_13_11_33_jpg.rf.74b8790fd87458fb22dc4f950540cdfc__det001__conf0.713.jpg"/>
          <p:cNvPicPr preferRelativeResize="0"/>
          <p:nvPr/>
        </p:nvPicPr>
        <p:blipFill>
          <a:blip r:embed="rId3">
            <a:alphaModFix/>
          </a:blip>
          <a:stretch>
            <a:fillRect/>
          </a:stretch>
        </p:blipFill>
        <p:spPr>
          <a:xfrm>
            <a:off x="710950" y="3343406"/>
            <a:ext cx="1240196" cy="1123950"/>
          </a:xfrm>
          <a:prstGeom prst="rect">
            <a:avLst/>
          </a:prstGeom>
          <a:noFill/>
          <a:ln>
            <a:noFill/>
          </a:ln>
        </p:spPr>
      </p:pic>
      <p:pic>
        <p:nvPicPr>
          <p:cNvPr id="199" name="Google Shape;199;p26"/>
          <p:cNvPicPr preferRelativeResize="0"/>
          <p:nvPr/>
        </p:nvPicPr>
        <p:blipFill>
          <a:blip r:embed="rId4">
            <a:alphaModFix/>
          </a:blip>
          <a:stretch>
            <a:fillRect/>
          </a:stretch>
        </p:blipFill>
        <p:spPr>
          <a:xfrm>
            <a:off x="2913099" y="3343400"/>
            <a:ext cx="1658900" cy="1123950"/>
          </a:xfrm>
          <a:prstGeom prst="rect">
            <a:avLst/>
          </a:prstGeom>
          <a:noFill/>
          <a:ln>
            <a:noFill/>
          </a:ln>
        </p:spPr>
      </p:pic>
      <p:pic>
        <p:nvPicPr>
          <p:cNvPr id="200" name="Google Shape;200;p26"/>
          <p:cNvPicPr preferRelativeResize="0"/>
          <p:nvPr/>
        </p:nvPicPr>
        <p:blipFill>
          <a:blip r:embed="rId5">
            <a:alphaModFix/>
          </a:blip>
          <a:stretch>
            <a:fillRect/>
          </a:stretch>
        </p:blipFill>
        <p:spPr>
          <a:xfrm>
            <a:off x="5628700" y="3343400"/>
            <a:ext cx="1363750" cy="1123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Major Challenges</a:t>
            </a:r>
            <a:endParaRPr/>
          </a:p>
        </p:txBody>
      </p:sp>
      <p:sp>
        <p:nvSpPr>
          <p:cNvPr id="206" name="Google Shape;206;p27"/>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207" name="Google Shape;207;p27"/>
          <p:cNvSpPr txBox="1"/>
          <p:nvPr/>
        </p:nvSpPr>
        <p:spPr>
          <a:xfrm>
            <a:off x="182875" y="985800"/>
            <a:ext cx="2556600" cy="33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latin typeface="Source Sans 3"/>
                <a:ea typeface="Source Sans 3"/>
                <a:cs typeface="Source Sans 3"/>
                <a:sym typeface="Source Sans 3"/>
              </a:rPr>
              <a:t>Problems Faced</a:t>
            </a:r>
            <a:endParaRPr sz="1800">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latin typeface="Source Sans 3"/>
                <a:ea typeface="Source Sans 3"/>
                <a:cs typeface="Source Sans 3"/>
                <a:sym typeface="Source Sans 3"/>
              </a:rPr>
              <a:t>Loss of computational resources (GPU)</a:t>
            </a:r>
            <a:endParaRPr sz="1800">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latin typeface="Source Sans 3"/>
                <a:ea typeface="Source Sans 3"/>
                <a:cs typeface="Source Sans 3"/>
                <a:sym typeface="Source Sans 3"/>
              </a:rPr>
              <a:t>Low-resolution reef imagery</a:t>
            </a:r>
            <a:endParaRPr sz="1800">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latin typeface="Source Sans 3"/>
                <a:ea typeface="Source Sans 3"/>
                <a:cs typeface="Source Sans 3"/>
                <a:sym typeface="Source Sans 3"/>
              </a:rPr>
              <a:t>Blurry water and partial occlusion</a:t>
            </a:r>
            <a:endParaRPr sz="1800">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latin typeface="Source Sans 3"/>
                <a:ea typeface="Source Sans 3"/>
                <a:cs typeface="Source Sans 3"/>
                <a:sym typeface="Source Sans 3"/>
              </a:rPr>
              <a:t>Domain shift from datasets</a:t>
            </a:r>
            <a:endParaRPr sz="1800">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latin typeface="Source Sans 3"/>
                <a:ea typeface="Source Sans 3"/>
                <a:cs typeface="Source Sans 3"/>
                <a:sym typeface="Source Sans 3"/>
              </a:rPr>
              <a:t>Mislabeled</a:t>
            </a:r>
            <a:r>
              <a:rPr lang="en-US" sz="1800">
                <a:latin typeface="Source Sans 3"/>
                <a:ea typeface="Source Sans 3"/>
                <a:cs typeface="Source Sans 3"/>
                <a:sym typeface="Source Sans 3"/>
              </a:rPr>
              <a:t> datasets</a:t>
            </a:r>
            <a:endParaRPr sz="1800">
              <a:latin typeface="Source Sans 3"/>
              <a:ea typeface="Source Sans 3"/>
              <a:cs typeface="Source Sans 3"/>
              <a:sym typeface="Source Sans 3"/>
            </a:endParaRPr>
          </a:p>
          <a:p>
            <a:pPr indent="0" lvl="0" marL="0" rtl="0" algn="l">
              <a:spcBef>
                <a:spcPts val="0"/>
              </a:spcBef>
              <a:spcAft>
                <a:spcPts val="0"/>
              </a:spcAft>
              <a:buNone/>
            </a:pPr>
            <a:r>
              <a:t/>
            </a:r>
            <a:endParaRPr sz="1800">
              <a:latin typeface="Source Sans 3"/>
              <a:ea typeface="Source Sans 3"/>
              <a:cs typeface="Source Sans 3"/>
              <a:sym typeface="Source Sans 3"/>
            </a:endParaRPr>
          </a:p>
        </p:txBody>
      </p:sp>
      <p:pic>
        <p:nvPicPr>
          <p:cNvPr id="208" name="Google Shape;208;p27"/>
          <p:cNvPicPr preferRelativeResize="0"/>
          <p:nvPr/>
        </p:nvPicPr>
        <p:blipFill>
          <a:blip r:embed="rId3">
            <a:alphaModFix/>
          </a:blip>
          <a:stretch>
            <a:fillRect/>
          </a:stretch>
        </p:blipFill>
        <p:spPr>
          <a:xfrm>
            <a:off x="3238475" y="1141011"/>
            <a:ext cx="5448336" cy="3064689"/>
          </a:xfrm>
          <a:prstGeom prst="rect">
            <a:avLst/>
          </a:prstGeom>
          <a:noFill/>
          <a:ln>
            <a:noFill/>
          </a:ln>
        </p:spPr>
      </p:pic>
      <p:sp>
        <p:nvSpPr>
          <p:cNvPr id="209" name="Google Shape;209;p27"/>
          <p:cNvSpPr/>
          <p:nvPr/>
        </p:nvSpPr>
        <p:spPr>
          <a:xfrm>
            <a:off x="3497163" y="4346075"/>
            <a:ext cx="304500" cy="299400"/>
          </a:xfrm>
          <a:prstGeom prst="roundRect">
            <a:avLst>
              <a:gd fmla="val 16667"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3"/>
              <a:ea typeface="Source Sans 3"/>
              <a:cs typeface="Source Sans 3"/>
              <a:sym typeface="Source Sans 3"/>
            </a:endParaRPr>
          </a:p>
        </p:txBody>
      </p:sp>
      <p:sp>
        <p:nvSpPr>
          <p:cNvPr id="210" name="Google Shape;210;p27"/>
          <p:cNvSpPr/>
          <p:nvPr/>
        </p:nvSpPr>
        <p:spPr>
          <a:xfrm>
            <a:off x="5470463" y="4346075"/>
            <a:ext cx="304500" cy="299400"/>
          </a:xfrm>
          <a:prstGeom prst="roundRect">
            <a:avLst>
              <a:gd fmla="val 16667" name="adj"/>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3"/>
              <a:ea typeface="Source Sans 3"/>
              <a:cs typeface="Source Sans 3"/>
              <a:sym typeface="Source Sans 3"/>
            </a:endParaRPr>
          </a:p>
        </p:txBody>
      </p:sp>
      <p:sp>
        <p:nvSpPr>
          <p:cNvPr id="211" name="Google Shape;211;p27"/>
          <p:cNvSpPr/>
          <p:nvPr/>
        </p:nvSpPr>
        <p:spPr>
          <a:xfrm>
            <a:off x="6880638" y="4346075"/>
            <a:ext cx="304500" cy="299400"/>
          </a:xfrm>
          <a:prstGeom prst="roundRect">
            <a:avLst>
              <a:gd fmla="val 16667" name="adj"/>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3"/>
              <a:ea typeface="Source Sans 3"/>
              <a:cs typeface="Source Sans 3"/>
              <a:sym typeface="Source Sans 3"/>
            </a:endParaRPr>
          </a:p>
        </p:txBody>
      </p:sp>
      <p:sp>
        <p:nvSpPr>
          <p:cNvPr id="212" name="Google Shape;212;p27"/>
          <p:cNvSpPr txBox="1"/>
          <p:nvPr/>
        </p:nvSpPr>
        <p:spPr>
          <a:xfrm>
            <a:off x="3847713" y="4321225"/>
            <a:ext cx="1552200" cy="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chemeClr val="dk2"/>
                </a:solidFill>
              </a:rPr>
              <a:t>Matched prediction</a:t>
            </a:r>
            <a:endParaRPr b="1" sz="1100">
              <a:solidFill>
                <a:schemeClr val="dk2"/>
              </a:solidFill>
            </a:endParaRPr>
          </a:p>
        </p:txBody>
      </p:sp>
      <p:sp>
        <p:nvSpPr>
          <p:cNvPr id="213" name="Google Shape;213;p27"/>
          <p:cNvSpPr txBox="1"/>
          <p:nvPr/>
        </p:nvSpPr>
        <p:spPr>
          <a:xfrm>
            <a:off x="5841538" y="4346075"/>
            <a:ext cx="1552200" cy="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chemeClr val="dk2"/>
                </a:solidFill>
              </a:rPr>
              <a:t>Missed GT</a:t>
            </a:r>
            <a:endParaRPr b="1" sz="1100">
              <a:solidFill>
                <a:schemeClr val="dk2"/>
              </a:solidFill>
            </a:endParaRPr>
          </a:p>
        </p:txBody>
      </p:sp>
      <p:sp>
        <p:nvSpPr>
          <p:cNvPr id="214" name="Google Shape;214;p27"/>
          <p:cNvSpPr txBox="1"/>
          <p:nvPr/>
        </p:nvSpPr>
        <p:spPr>
          <a:xfrm>
            <a:off x="7292513" y="4346075"/>
            <a:ext cx="1552200" cy="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chemeClr val="dk2"/>
                </a:solidFill>
              </a:rPr>
              <a:t>False Positive</a:t>
            </a:r>
            <a:endParaRPr b="1" sz="1100">
              <a:solidFill>
                <a:schemeClr val="dk2"/>
              </a:solidFill>
            </a:endParaRPr>
          </a:p>
        </p:txBody>
      </p:sp>
      <p:pic>
        <p:nvPicPr>
          <p:cNvPr id="215" name="Google Shape;215;p27"/>
          <p:cNvPicPr preferRelativeResize="0"/>
          <p:nvPr/>
        </p:nvPicPr>
        <p:blipFill rotWithShape="1">
          <a:blip r:embed="rId4">
            <a:alphaModFix/>
          </a:blip>
          <a:srcRect b="3902" l="0" r="0" t="0"/>
          <a:stretch/>
        </p:blipFill>
        <p:spPr>
          <a:xfrm>
            <a:off x="0" y="170925"/>
            <a:ext cx="9144001" cy="46141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Demonstration</a:t>
            </a:r>
            <a:endParaRPr/>
          </a:p>
        </p:txBody>
      </p:sp>
      <p:sp>
        <p:nvSpPr>
          <p:cNvPr id="221" name="Google Shape;221;p28"/>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pic>
        <p:nvPicPr>
          <p:cNvPr id="222" name="Google Shape;222;p28" title="tiaia 25.mp4">
            <a:hlinkClick r:id="rId3"/>
          </p:cNvPr>
          <p:cNvPicPr preferRelativeResize="0"/>
          <p:nvPr/>
        </p:nvPicPr>
        <p:blipFill>
          <a:blip r:embed="rId4">
            <a:alphaModFix/>
          </a:blip>
          <a:stretch>
            <a:fillRect/>
          </a:stretch>
        </p:blipFill>
        <p:spPr>
          <a:xfrm>
            <a:off x="149730" y="1057275"/>
            <a:ext cx="8844521" cy="3264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Demonstration</a:t>
            </a:r>
            <a:endParaRPr/>
          </a:p>
        </p:txBody>
      </p:sp>
      <p:sp>
        <p:nvSpPr>
          <p:cNvPr id="228" name="Google Shape;228;p29"/>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pic>
        <p:nvPicPr>
          <p:cNvPr id="229" name="Google Shape;229;p29" title="Screenshot 2026-05-31 130532.png"/>
          <p:cNvPicPr preferRelativeResize="0"/>
          <p:nvPr/>
        </p:nvPicPr>
        <p:blipFill rotWithShape="1">
          <a:blip r:embed="rId3">
            <a:alphaModFix/>
          </a:blip>
          <a:srcRect b="14273" l="0" r="0" t="0"/>
          <a:stretch/>
        </p:blipFill>
        <p:spPr>
          <a:xfrm>
            <a:off x="2485675" y="1363675"/>
            <a:ext cx="4274450" cy="2897375"/>
          </a:xfrm>
          <a:prstGeom prst="rect">
            <a:avLst/>
          </a:prstGeom>
          <a:noFill/>
          <a:ln>
            <a:noFill/>
          </a:ln>
        </p:spPr>
      </p:pic>
      <p:sp>
        <p:nvSpPr>
          <p:cNvPr id="230" name="Google Shape;230;p29"/>
          <p:cNvSpPr/>
          <p:nvPr/>
        </p:nvSpPr>
        <p:spPr>
          <a:xfrm>
            <a:off x="2538575" y="2571750"/>
            <a:ext cx="1497300" cy="187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
        <p:nvSpPr>
          <p:cNvPr id="231" name="Google Shape;231;p29"/>
          <p:cNvSpPr/>
          <p:nvPr/>
        </p:nvSpPr>
        <p:spPr>
          <a:xfrm>
            <a:off x="2538575" y="3873475"/>
            <a:ext cx="2865900" cy="187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0"/>
          <p:cNvSpPr txBox="1"/>
          <p:nvPr>
            <p:ph type="title"/>
          </p:nvPr>
        </p:nvSpPr>
        <p:spPr>
          <a:xfrm>
            <a:off x="457075" y="4658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Demonstration</a:t>
            </a:r>
            <a:endParaRPr/>
          </a:p>
        </p:txBody>
      </p:sp>
      <p:sp>
        <p:nvSpPr>
          <p:cNvPr id="237" name="Google Shape;237;p30"/>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pic>
        <p:nvPicPr>
          <p:cNvPr id="238" name="Google Shape;238;p30"/>
          <p:cNvPicPr preferRelativeResize="0"/>
          <p:nvPr/>
        </p:nvPicPr>
        <p:blipFill>
          <a:blip r:embed="rId3">
            <a:alphaModFix/>
          </a:blip>
          <a:stretch>
            <a:fillRect/>
          </a:stretch>
        </p:blipFill>
        <p:spPr>
          <a:xfrm>
            <a:off x="241942" y="2765825"/>
            <a:ext cx="6197031" cy="1211675"/>
          </a:xfrm>
          <a:prstGeom prst="rect">
            <a:avLst/>
          </a:prstGeom>
          <a:noFill/>
          <a:ln>
            <a:noFill/>
          </a:ln>
        </p:spPr>
      </p:pic>
      <p:pic>
        <p:nvPicPr>
          <p:cNvPr id="239" name="Google Shape;239;p30"/>
          <p:cNvPicPr preferRelativeResize="0"/>
          <p:nvPr/>
        </p:nvPicPr>
        <p:blipFill>
          <a:blip r:embed="rId4">
            <a:alphaModFix/>
          </a:blip>
          <a:stretch>
            <a:fillRect/>
          </a:stretch>
        </p:blipFill>
        <p:spPr>
          <a:xfrm>
            <a:off x="5923339" y="1882674"/>
            <a:ext cx="3559473" cy="1424846"/>
          </a:xfrm>
          <a:prstGeom prst="rect">
            <a:avLst/>
          </a:prstGeom>
          <a:noFill/>
          <a:ln>
            <a:noFill/>
          </a:ln>
        </p:spPr>
      </p:pic>
      <p:pic>
        <p:nvPicPr>
          <p:cNvPr id="240" name="Google Shape;240;p30"/>
          <p:cNvPicPr preferRelativeResize="0"/>
          <p:nvPr/>
        </p:nvPicPr>
        <p:blipFill rotWithShape="1">
          <a:blip r:embed="rId5">
            <a:alphaModFix/>
          </a:blip>
          <a:srcRect b="0" l="0" r="13667" t="0"/>
          <a:stretch/>
        </p:blipFill>
        <p:spPr>
          <a:xfrm>
            <a:off x="316096" y="1166000"/>
            <a:ext cx="5271466" cy="1211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357950" y="346304"/>
            <a:ext cx="6375300" cy="3891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Project Demonstration</a:t>
            </a:r>
            <a:endParaRPr/>
          </a:p>
        </p:txBody>
      </p:sp>
      <p:sp>
        <p:nvSpPr>
          <p:cNvPr id="246" name="Google Shape;246;p31"/>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pic>
        <p:nvPicPr>
          <p:cNvPr id="247" name="Google Shape;247;p31"/>
          <p:cNvPicPr preferRelativeResize="0"/>
          <p:nvPr/>
        </p:nvPicPr>
        <p:blipFill>
          <a:blip r:embed="rId3">
            <a:alphaModFix/>
          </a:blip>
          <a:stretch>
            <a:fillRect/>
          </a:stretch>
        </p:blipFill>
        <p:spPr>
          <a:xfrm>
            <a:off x="2023375" y="823225"/>
            <a:ext cx="7035950" cy="3957703"/>
          </a:xfrm>
          <a:prstGeom prst="rect">
            <a:avLst/>
          </a:prstGeom>
          <a:noFill/>
          <a:ln>
            <a:noFill/>
          </a:ln>
        </p:spPr>
      </p:pic>
      <p:sp>
        <p:nvSpPr>
          <p:cNvPr id="248" name="Google Shape;248;p31"/>
          <p:cNvSpPr/>
          <p:nvPr/>
        </p:nvSpPr>
        <p:spPr>
          <a:xfrm>
            <a:off x="357950" y="1052004"/>
            <a:ext cx="295800" cy="291000"/>
          </a:xfrm>
          <a:prstGeom prst="roundRect">
            <a:avLst>
              <a:gd fmla="val 16667" name="adj"/>
            </a:avLst>
          </a:prstGeom>
          <a:solidFill>
            <a:srgbClr val="6AA84F"/>
          </a:solidFill>
          <a:ln cap="flat" cmpd="sng" w="9250">
            <a:solidFill>
              <a:srgbClr val="6AA84F"/>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t/>
            </a:r>
            <a:endParaRPr sz="1360">
              <a:latin typeface="Source Sans 3"/>
              <a:ea typeface="Source Sans 3"/>
              <a:cs typeface="Source Sans 3"/>
              <a:sym typeface="Source Sans 3"/>
            </a:endParaRPr>
          </a:p>
        </p:txBody>
      </p:sp>
      <p:sp>
        <p:nvSpPr>
          <p:cNvPr id="249" name="Google Shape;249;p31"/>
          <p:cNvSpPr/>
          <p:nvPr/>
        </p:nvSpPr>
        <p:spPr>
          <a:xfrm>
            <a:off x="357950" y="1491158"/>
            <a:ext cx="295800" cy="291000"/>
          </a:xfrm>
          <a:prstGeom prst="roundRect">
            <a:avLst>
              <a:gd fmla="val 16667" name="adj"/>
            </a:avLst>
          </a:prstGeom>
          <a:solidFill>
            <a:srgbClr val="FF9900"/>
          </a:solidFill>
          <a:ln cap="flat" cmpd="sng" w="9250">
            <a:solidFill>
              <a:srgbClr val="FF9900"/>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t/>
            </a:r>
            <a:endParaRPr sz="1360">
              <a:latin typeface="Source Sans 3"/>
              <a:ea typeface="Source Sans 3"/>
              <a:cs typeface="Source Sans 3"/>
              <a:sym typeface="Source Sans 3"/>
            </a:endParaRPr>
          </a:p>
        </p:txBody>
      </p:sp>
      <p:sp>
        <p:nvSpPr>
          <p:cNvPr id="250" name="Google Shape;250;p31"/>
          <p:cNvSpPr/>
          <p:nvPr/>
        </p:nvSpPr>
        <p:spPr>
          <a:xfrm>
            <a:off x="357950" y="1930312"/>
            <a:ext cx="295800" cy="291000"/>
          </a:xfrm>
          <a:prstGeom prst="roundRect">
            <a:avLst>
              <a:gd fmla="val 16667" name="adj"/>
            </a:avLst>
          </a:prstGeom>
          <a:solidFill>
            <a:srgbClr val="FF0000"/>
          </a:solidFill>
          <a:ln cap="flat" cmpd="sng" w="9250">
            <a:solidFill>
              <a:srgbClr val="FF0000"/>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t/>
            </a:r>
            <a:endParaRPr sz="1360">
              <a:latin typeface="Source Sans 3"/>
              <a:ea typeface="Source Sans 3"/>
              <a:cs typeface="Source Sans 3"/>
              <a:sym typeface="Source Sans 3"/>
            </a:endParaRPr>
          </a:p>
        </p:txBody>
      </p:sp>
      <p:sp>
        <p:nvSpPr>
          <p:cNvPr id="251" name="Google Shape;251;p31"/>
          <p:cNvSpPr txBox="1"/>
          <p:nvPr/>
        </p:nvSpPr>
        <p:spPr>
          <a:xfrm>
            <a:off x="653796" y="1052004"/>
            <a:ext cx="1508100" cy="291000"/>
          </a:xfrm>
          <a:prstGeom prst="rect">
            <a:avLst/>
          </a:prstGeom>
          <a:noFill/>
          <a:ln>
            <a:noFill/>
          </a:ln>
        </p:spPr>
        <p:txBody>
          <a:bodyPr anchorCtr="0" anchor="t" bIns="88825" lIns="88825" spcFirstLastPara="1" rIns="88825" wrap="square" tIns="88825">
            <a:noAutofit/>
          </a:bodyPr>
          <a:lstStyle/>
          <a:p>
            <a:pPr indent="0" lvl="0" marL="0" rtl="0" algn="l">
              <a:spcBef>
                <a:spcPts val="0"/>
              </a:spcBef>
              <a:spcAft>
                <a:spcPts val="0"/>
              </a:spcAft>
              <a:buNone/>
            </a:pPr>
            <a:r>
              <a:rPr b="1" lang="en-US" sz="1069">
                <a:solidFill>
                  <a:schemeClr val="dk2"/>
                </a:solidFill>
              </a:rPr>
              <a:t>Matched prediction</a:t>
            </a:r>
            <a:endParaRPr b="1" sz="1069">
              <a:solidFill>
                <a:schemeClr val="dk2"/>
              </a:solidFill>
            </a:endParaRPr>
          </a:p>
        </p:txBody>
      </p:sp>
      <p:sp>
        <p:nvSpPr>
          <p:cNvPr id="252" name="Google Shape;252;p31"/>
          <p:cNvSpPr txBox="1"/>
          <p:nvPr/>
        </p:nvSpPr>
        <p:spPr>
          <a:xfrm>
            <a:off x="653796" y="1503230"/>
            <a:ext cx="1508100" cy="291000"/>
          </a:xfrm>
          <a:prstGeom prst="rect">
            <a:avLst/>
          </a:prstGeom>
          <a:noFill/>
          <a:ln>
            <a:noFill/>
          </a:ln>
        </p:spPr>
        <p:txBody>
          <a:bodyPr anchorCtr="0" anchor="t" bIns="88825" lIns="88825" spcFirstLastPara="1" rIns="88825" wrap="square" tIns="88825">
            <a:noAutofit/>
          </a:bodyPr>
          <a:lstStyle/>
          <a:p>
            <a:pPr indent="0" lvl="0" marL="0" rtl="0" algn="l">
              <a:spcBef>
                <a:spcPts val="0"/>
              </a:spcBef>
              <a:spcAft>
                <a:spcPts val="0"/>
              </a:spcAft>
              <a:buNone/>
            </a:pPr>
            <a:r>
              <a:rPr b="1" lang="en-US" sz="1069">
                <a:solidFill>
                  <a:schemeClr val="dk2"/>
                </a:solidFill>
              </a:rPr>
              <a:t>Missed GT</a:t>
            </a:r>
            <a:endParaRPr b="1" sz="1069">
              <a:solidFill>
                <a:schemeClr val="dk2"/>
              </a:solidFill>
            </a:endParaRPr>
          </a:p>
        </p:txBody>
      </p:sp>
      <p:sp>
        <p:nvSpPr>
          <p:cNvPr id="253" name="Google Shape;253;p31"/>
          <p:cNvSpPr txBox="1"/>
          <p:nvPr/>
        </p:nvSpPr>
        <p:spPr>
          <a:xfrm>
            <a:off x="653796" y="1930312"/>
            <a:ext cx="1508100" cy="291000"/>
          </a:xfrm>
          <a:prstGeom prst="rect">
            <a:avLst/>
          </a:prstGeom>
          <a:noFill/>
          <a:ln>
            <a:noFill/>
          </a:ln>
        </p:spPr>
        <p:txBody>
          <a:bodyPr anchorCtr="0" anchor="t" bIns="88825" lIns="88825" spcFirstLastPara="1" rIns="88825" wrap="square" tIns="88825">
            <a:noAutofit/>
          </a:bodyPr>
          <a:lstStyle/>
          <a:p>
            <a:pPr indent="0" lvl="0" marL="0" rtl="0" algn="l">
              <a:spcBef>
                <a:spcPts val="0"/>
              </a:spcBef>
              <a:spcAft>
                <a:spcPts val="0"/>
              </a:spcAft>
              <a:buNone/>
            </a:pPr>
            <a:r>
              <a:rPr b="1" lang="en-US" sz="1069">
                <a:solidFill>
                  <a:schemeClr val="dk2"/>
                </a:solidFill>
              </a:rPr>
              <a:t>False Positive</a:t>
            </a:r>
            <a:endParaRPr b="1" sz="1069">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Conclusion</a:t>
            </a:r>
            <a:endParaRPr/>
          </a:p>
        </p:txBody>
      </p:sp>
      <p:sp>
        <p:nvSpPr>
          <p:cNvPr id="259" name="Google Shape;259;p32"/>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260" name="Google Shape;260;p32"/>
          <p:cNvSpPr txBox="1"/>
          <p:nvPr/>
        </p:nvSpPr>
        <p:spPr>
          <a:xfrm>
            <a:off x="457075" y="1053925"/>
            <a:ext cx="8229600" cy="3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highlight>
                  <a:srgbClr val="FFFFFF"/>
                </a:highlight>
                <a:latin typeface="Source Sans 3"/>
                <a:ea typeface="Source Sans 3"/>
                <a:cs typeface="Source Sans 3"/>
                <a:sym typeface="Source Sans 3"/>
              </a:rPr>
              <a:t>Project Summary</a:t>
            </a:r>
            <a:r>
              <a:rPr lang="en-US" sz="1800">
                <a:highlight>
                  <a:srgbClr val="FFFFFF"/>
                </a:highlight>
                <a:latin typeface="Source Sans 3"/>
                <a:ea typeface="Source Sans 3"/>
                <a:cs typeface="Source Sans 3"/>
                <a:sym typeface="Source Sans 3"/>
              </a:rPr>
              <a:t>:</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Built end-to-end pipeline</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Identified major failure points</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Improved performance through model choice</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rPr lang="en-US" sz="1800">
                <a:highlight>
                  <a:srgbClr val="FFFFFF"/>
                </a:highlight>
                <a:latin typeface="Source Sans 3"/>
                <a:ea typeface="Source Sans 3"/>
                <a:cs typeface="Source Sans 3"/>
                <a:sym typeface="Source Sans 3"/>
              </a:rPr>
              <a:t>Key Problems:</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Domain shift and low resolution data</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rPr lang="en-US" sz="1800">
                <a:highlight>
                  <a:srgbClr val="FFFFFF"/>
                </a:highlight>
                <a:latin typeface="Source Sans 3"/>
                <a:ea typeface="Source Sans 3"/>
                <a:cs typeface="Source Sans 3"/>
                <a:sym typeface="Source Sans 3"/>
              </a:rPr>
              <a:t>Future Work:</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Develop lightweight UI for image upload and species prediction display</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Explore real-time deployment for reef biodiversity monitoring</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Experiment with newly released LocateAnything</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100"/>
          </a:p>
          <a:p>
            <a:pPr indent="0" lvl="0" marL="0" rtl="0" algn="l">
              <a:lnSpc>
                <a:spcPct val="115000"/>
              </a:lnSpc>
              <a:spcBef>
                <a:spcPts val="0"/>
              </a:spcBef>
              <a:spcAft>
                <a:spcPts val="0"/>
              </a:spcAft>
              <a:buNone/>
            </a:pPr>
            <a:r>
              <a:t/>
            </a:r>
            <a:endParaRPr sz="1200">
              <a:highlight>
                <a:srgbClr val="FFFFFF"/>
              </a:highlight>
            </a:endParaRPr>
          </a:p>
          <a:p>
            <a:pPr indent="0" lvl="0" marL="0" rtl="0" algn="l">
              <a:spcBef>
                <a:spcPts val="0"/>
              </a:spcBef>
              <a:spcAft>
                <a:spcPts val="0"/>
              </a:spcAft>
              <a:buNone/>
            </a:pPr>
            <a:r>
              <a:t/>
            </a:r>
            <a:endParaRPr sz="1200">
              <a:highlight>
                <a:srgbClr val="FFFFFF"/>
              </a:highlight>
            </a:endParaRPr>
          </a:p>
        </p:txBody>
      </p:sp>
      <p:pic>
        <p:nvPicPr>
          <p:cNvPr id="261" name="Google Shape;261;p32" title="Nvidia_logo.svg.png"/>
          <p:cNvPicPr preferRelativeResize="0"/>
          <p:nvPr/>
        </p:nvPicPr>
        <p:blipFill>
          <a:blip r:embed="rId3">
            <a:alphaModFix/>
          </a:blip>
          <a:stretch>
            <a:fillRect/>
          </a:stretch>
        </p:blipFill>
        <p:spPr>
          <a:xfrm>
            <a:off x="5690274" y="4175950"/>
            <a:ext cx="415724" cy="3061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nd Gold">
  <a:themeElements>
    <a:clrScheme name="Blue &amp; Gold">
      <a:dk1>
        <a:srgbClr val="182B48"/>
      </a:dk1>
      <a:lt1>
        <a:srgbClr val="FFCC00"/>
      </a:lt1>
      <a:dk2>
        <a:srgbClr val="182B48"/>
      </a:dk2>
      <a:lt2>
        <a:srgbClr val="FEFFFF"/>
      </a:lt2>
      <a:accent1>
        <a:srgbClr val="00629B"/>
      </a:accent1>
      <a:accent2>
        <a:srgbClr val="FFCC00"/>
      </a:accent2>
      <a:accent3>
        <a:srgbClr val="182B48"/>
      </a:accent3>
      <a:accent4>
        <a:srgbClr val="C59114"/>
      </a:accent4>
      <a:accent5>
        <a:srgbClr val="747578"/>
      </a:accent5>
      <a:accent6>
        <a:srgbClr val="FFCC00"/>
      </a:accent6>
      <a:hlink>
        <a:srgbClr val="00629B"/>
      </a:hlink>
      <a:folHlink>
        <a:srgbClr val="7475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